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After the title, I will first explain why this topic matters.</a:t>
            </a:r>
          </a:p>
          <a:p/>
          <a:p>
            <a:r>
              <a:rPr sz="1400">
                <a:latin typeface="Calibri"/>
              </a:rPr>
              <a:t>India imports a large share of crude oil. Crude oil is priced in US dollars, so India is affected by two things: the global Brent crude price and the rupee-dollar exchange rate.</a:t>
            </a:r>
          </a:p>
          <a:p/>
          <a:p>
            <a:r>
              <a:rPr sz="1400">
                <a:latin typeface="Calibri"/>
              </a:rPr>
              <a:t>Oil can enter the Indian price system through petrol prices, wholesale fuel prices, transport costs, and input costs. But headline CPI is a broad index. It has food, housing, services, and many non-fuel items. So my basic question is: if oil matters, why does the effect become weak in headline CPI?</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Now I move from the motivation to the exact research question.</a:t>
            </a:r>
          </a:p>
          <a:p/>
          <a:p>
            <a:r>
              <a:rPr sz="1400">
                <a:latin typeface="Calibri"/>
              </a:rPr>
              <a:t>The main objective is to estimate short-run oil-price pass-through across different Indian price layers. I am not only looking at oil and headline CPI directly. I am checking the layers in between.</a:t>
            </a:r>
          </a:p>
          <a:p/>
          <a:p>
            <a:r>
              <a:rPr sz="1400">
                <a:latin typeface="Calibri"/>
              </a:rPr>
              <a:t>The research question is: how do global oil shocks move through wholesale prices, retail fuel prices, fuel-sensitive CPI, and headline CPI, and where does the effect become weak?</a:t>
            </a:r>
          </a:p>
          <a:p/>
          <a:p>
            <a:r>
              <a:rPr sz="1400">
                <a:latin typeface="Calibri"/>
              </a:rPr>
              <a:t>My contribution is the layered view. Each layer is estimated separately, so I am not claiming one simple WPI-to-CPI causal chain.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Now I will explain the data used in the study.</a:t>
            </a:r>
          </a:p>
          <a:p/>
          <a:p>
            <a:r>
              <a:rPr sz="1400">
                <a:latin typeface="Calibri"/>
              </a:rPr>
              <a:t>The data are monthly. Brent crude captures the international oil shock. The exchange rate captures the rupee-dollar part. I combine Brent and the exchange rate to create the rupee oil price, which is the domestic oil-cost pressure.</a:t>
            </a:r>
          </a:p>
          <a:p/>
          <a:p>
            <a:r>
              <a:rPr sz="1400">
                <a:latin typeface="Calibri"/>
              </a:rPr>
              <a:t>For prices, I use WPI, WPI Fuel and Power, PPAC Delhi retail petrol, CPI Fuel and Light, and headline CPI. I also use IIP as an activity control.</a:t>
            </a:r>
          </a:p>
          <a:p/>
          <a:p>
            <a:r>
              <a:rPr sz="1400">
                <a:latin typeface="Calibri"/>
              </a:rPr>
              <a:t>All main variables are converted into monthly log differences. In simple terms, these can be read as approximate monthly percentage changes.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After the data, I will explain the model in simple words.</a:t>
            </a:r>
          </a:p>
          <a:p/>
          <a:p>
            <a:r>
              <a:rPr sz="1400">
                <a:latin typeface="Calibri"/>
              </a:rPr>
              <a:t>I use a short-run asymmetric ADL model. ADL means current inflation depends on its own past values and on current and past oil shocks.</a:t>
            </a:r>
          </a:p>
          <a:p/>
          <a:p>
            <a:r>
              <a:rPr sz="1400">
                <a:latin typeface="Calibri"/>
              </a:rPr>
              <a:t>This is useful because oil-price effects may not appear fully in the same month. They may spread across a few months.</a:t>
            </a:r>
          </a:p>
          <a:p/>
          <a:p>
            <a:r>
              <a:rPr sz="1400">
                <a:latin typeface="Calibri"/>
              </a:rPr>
              <a:t>Positive and negative oil shocks are kept separate. This lets me check whether prices respond differently when oil rises and when oil falls.</a:t>
            </a:r>
          </a:p>
          <a:p/>
          <a:p>
            <a:r>
              <a:rPr sz="1400">
                <a:latin typeface="Calibri"/>
              </a:rPr>
              <a:t>The main reported numbers are CPT plus and CPT minus. They are the total response over the lag window. I use Newey-West HAC standard errors for p-values because this is monthly time-series data.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Now I come to the main results table.</a:t>
            </a:r>
          </a:p>
          <a:p/>
          <a:p>
            <a:r>
              <a:rPr sz="1400">
                <a:latin typeface="Calibri"/>
              </a:rPr>
              <a:t>I will not read every number. The main pattern is more important.</a:t>
            </a:r>
          </a:p>
          <a:p/>
          <a:p>
            <a:r>
              <a:rPr sz="1400">
                <a:latin typeface="Calibri"/>
              </a:rPr>
              <a:t>Pass-through is strongest in WPI Fuel and Power, with CPT plus around 0.52. It is also strong in PPAC retail petrol, around 0.35. CPI Fuel and Light is smaller, around 0.18, but still statistically significant.</a:t>
            </a:r>
          </a:p>
          <a:p/>
          <a:p>
            <a:r>
              <a:rPr sz="1400">
                <a:latin typeface="Calibri"/>
              </a:rPr>
              <a:t>The broad headline indices are much smaller. Headline WPI is around 0.03. Headline CPI is around 0.02, but its p-value is 0.122, so it is not statistically significant.</a:t>
            </a:r>
          </a:p>
          <a:p/>
          <a:p>
            <a:r>
              <a:rPr sz="1400">
                <a:latin typeface="Calibri"/>
              </a:rPr>
              <a:t>So the main message is: strong near fuel prices, weak at headline CPI.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Next I separate the wholesale results.</a:t>
            </a:r>
          </a:p>
          <a:p/>
          <a:p>
            <a:r>
              <a:rPr sz="1400">
                <a:latin typeface="Calibri"/>
              </a:rPr>
              <a:t>Headline WPI shows a statistically significant response, but the size is small. This is expected because headline WPI is a broad index.</a:t>
            </a:r>
          </a:p>
          <a:p/>
          <a:p>
            <a:r>
              <a:rPr sz="1400">
                <a:latin typeface="Calibri"/>
              </a:rPr>
              <a:t>WPI Fuel and Power is different. It is much closer to fuel and energy items. In the preferred post-2010 model, excluding the abnormal COVID months, the pass-through is large and statistically significant.</a:t>
            </a:r>
          </a:p>
          <a:p/>
          <a:p>
            <a:r>
              <a:rPr sz="1400">
                <a:latin typeface="Calibri"/>
              </a:rPr>
              <a:t>So the wholesale evidence says that oil is clearly visible in the fuel-sensitive wholesale layer, but it becomes smaller in the broad headline WPI.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After the wholesale side, I move to the consumer fuel side.</a:t>
            </a:r>
          </a:p>
          <a:p/>
          <a:p>
            <a:r>
              <a:rPr sz="1400">
                <a:latin typeface="Calibri"/>
              </a:rPr>
              <a:t>Retail petrol responds strongly to Brent crude shocks. This is the direct fuel layer, so a stronger response is expected.</a:t>
            </a:r>
          </a:p>
          <a:p/>
          <a:p>
            <a:r>
              <a:rPr sz="1400">
                <a:latin typeface="Calibri"/>
              </a:rPr>
              <a:t>Then I look at CPI Fuel and Light. Here the shock variable is PPAC retail petrol. The positive pass-through is smaller than retail petrol, but it is still statistically significant.</a:t>
            </a:r>
          </a:p>
          <a:p/>
          <a:p>
            <a:r>
              <a:rPr sz="1400">
                <a:latin typeface="Calibri"/>
              </a:rPr>
              <a:t>This slide supports the bridge idea. Oil first appears strongly in retail fuel, and then a smaller part appears in the fuel-sensitive consumer category.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Now I move to the final consumer endpoint, headline CPI.</a:t>
            </a:r>
          </a:p>
          <a:p/>
          <a:p>
            <a:r>
              <a:rPr sz="1400">
                <a:latin typeface="Calibri"/>
              </a:rPr>
              <a:t>This is an important slide because headline CPI is the main inflation measure for consumers and policy.</a:t>
            </a:r>
          </a:p>
          <a:p/>
          <a:p>
            <a:r>
              <a:rPr sz="1400">
                <a:latin typeface="Calibri"/>
              </a:rPr>
              <a:t>The positive coefficient has the expected sign, but the p-value is 0.122. So I cannot say it is statistically significant at conventional levels.</a:t>
            </a:r>
          </a:p>
          <a:p/>
          <a:p>
            <a:r>
              <a:rPr sz="1400">
                <a:latin typeface="Calibri"/>
              </a:rPr>
              <a:t>This does not mean oil is irrelevant. It means that by the time the shock reaches the broad CPI basket, the effect is weak. CPI includes many non-fuel items, and taxes, margins, and basket weights can absorb part of the oil shock.</a:t>
            </a:r>
          </a:p>
          <a:p/>
          <a:p>
            <a:r>
              <a:rPr sz="1400">
                <a:latin typeface="Calibri"/>
              </a:rPr>
              <a:t>So my safe interpretation is attenuation, not absence.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After showing the headline CPI result, I test the attenuation pattern more directly.</a:t>
            </a:r>
          </a:p>
          <a:p/>
          <a:p>
            <a:r>
              <a:rPr sz="1400">
                <a:latin typeface="Calibri"/>
              </a:rPr>
              <a:t>Here I use a common-sample consumer chain. Stage 1 is Brent to retail petrol. Stage 2 is retail petrol to CPI Fuel and Light. Stage 3 is rupee oil to headline CPI.</a:t>
            </a:r>
          </a:p>
          <a:p/>
          <a:p>
            <a:r>
              <a:rPr sz="1400">
                <a:latin typeface="Calibri"/>
              </a:rPr>
              <a:t>The numbers fall from about 0.40 in Stage 1 to about 0.18 in Stage 2 and almost zero in Stage 3.</a:t>
            </a:r>
          </a:p>
          <a:p/>
          <a:p>
            <a:r>
              <a:rPr sz="1400">
                <a:latin typeface="Calibri"/>
              </a:rPr>
              <a:t>The Wald test compares Stage 1 and Stage 3. The p-value is 0.0002, so equality is rejected. This means the fall in pass-through is statistically supported, not just a visual pattern.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After the attenuation test, I will explain what the result means.</a:t>
            </a:r>
          </a:p>
          <a:p/>
          <a:p>
            <a:r>
              <a:rPr sz="1400">
                <a:latin typeface="Calibri"/>
              </a:rPr>
              <a:t>The numbers fall sharply across the consumer chain. Retail petrol responds strongly. CPI Fuel and Light responds less, but still significantly. Headline CPI is almost zero in the common-sample chain.</a:t>
            </a:r>
          </a:p>
          <a:p/>
          <a:p>
            <a:r>
              <a:rPr sz="1400">
                <a:latin typeface="Calibri"/>
              </a:rPr>
              <a:t>This makes sense because headline CPI is a broad basket. Fuel is only one part of it. So the oil signal becomes weaker when it is mixed with food, services, housing, and other items.</a:t>
            </a:r>
          </a:p>
          <a:p/>
          <a:p>
            <a:r>
              <a:rPr sz="1400">
                <a:latin typeface="Calibri"/>
              </a:rPr>
              <a:t>For policy, the important point is monitoring. Headline CPI alone may miss pressure building in fuel-sensitive layers. Retail fuel, WPI Fuel and Power, and CPI Fuel and Light should be watched together.</a:t>
            </a:r>
          </a:p>
          <a:p/>
          <a:p>
            <a:r>
              <a:rPr sz="1400">
                <a:latin typeface="Calibri"/>
              </a:rPr>
              <a:t>The model does not prove one exact policy action. It shows that policy should separate direct fuel shocks from wider second-round inflation.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400">
                <a:latin typeface="Calibri"/>
              </a:rPr>
              <a:t>To conclude, the central finding is layered attenuation.</a:t>
            </a:r>
          </a:p>
          <a:p/>
          <a:p>
            <a:r>
              <a:rPr sz="1400">
                <a:latin typeface="Calibri"/>
              </a:rPr>
              <a:t>Oil shocks matter in India, but the effect is not equally strong everywhere. It is strong in WPI Fuel and Power and retail petrol. It is smaller in CPI Fuel and Light. It is modest in headline WPI. It is weak and not statistically significant in headline CPI.</a:t>
            </a:r>
          </a:p>
          <a:p/>
          <a:p>
            <a:r>
              <a:rPr sz="1400">
                <a:latin typeface="Calibri"/>
              </a:rPr>
              <a:t>The formal attenuation test also supports this result.</a:t>
            </a:r>
          </a:p>
          <a:p/>
          <a:p>
            <a:r>
              <a:rPr sz="1400">
                <a:latin typeface="Calibri"/>
              </a:rPr>
              <a:t>So my final conclusion is simple: oil-price transmission is present, but it becomes diluted before reaching headline CPI.</a:t>
            </a:r>
          </a:p>
          <a:p/>
          <a:p>
            <a:r>
              <a:rPr sz="1400">
                <a:latin typeface="Calibri"/>
              </a:rPr>
              <a:t>Thank you. I am happy to take your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502920" cy="6858000"/>
          </a:xfrm>
          <a:prstGeom prst="rect">
            <a:avLst/>
          </a:prstGeom>
          <a:solidFill>
            <a:srgbClr val="142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914400" y="868680"/>
            <a:ext cx="457200" cy="54864"/>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914400" y="1417320"/>
            <a:ext cx="10332720" cy="2286000"/>
          </a:xfrm>
          <a:prstGeom prst="rect">
            <a:avLst/>
          </a:prstGeom>
          <a:noFill/>
        </p:spPr>
        <p:txBody>
          <a:bodyPr wrap="square" lIns="45720" rIns="45720" tIns="18288" bIns="18288">
            <a:spAutoFit/>
          </a:bodyPr>
          <a:lstStyle/>
          <a:p>
            <a:pPr algn="l">
              <a:lnSpc>
                <a:spcPct val="108000"/>
              </a:lnSpc>
            </a:pPr>
            <a:r>
              <a:rPr sz="4200" b="1">
                <a:solidFill>
                  <a:srgbClr val="142A55"/>
                </a:solidFill>
                <a:latin typeface="Calibri"/>
              </a:rPr>
              <a:t>From wholesale prices to consumer inflation</a:t>
            </a:r>
          </a:p>
          <a:p>
            <a:pPr algn="l">
              <a:lnSpc>
                <a:spcPct val="115000"/>
              </a:lnSpc>
              <a:spcBef>
                <a:spcPts val="800"/>
              </a:spcBef>
            </a:pPr>
            <a:r>
              <a:rPr sz="2200" i="1">
                <a:solidFill>
                  <a:srgbClr val="1F2937"/>
                </a:solidFill>
                <a:latin typeface="Calibri"/>
              </a:rPr>
              <a:t>Layered pass-through of global oil shocks in India, 1983–2026</a:t>
            </a:r>
          </a:p>
        </p:txBody>
      </p:sp>
      <p:sp>
        <p:nvSpPr>
          <p:cNvPr id="6" name="Rectangle 5"/>
          <p:cNvSpPr/>
          <p:nvPr/>
        </p:nvSpPr>
        <p:spPr>
          <a:xfrm>
            <a:off x="914400" y="3383280"/>
            <a:ext cx="2377440" cy="22860"/>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914400" y="3566160"/>
            <a:ext cx="10332720" cy="1828800"/>
          </a:xfrm>
          <a:prstGeom prst="rect">
            <a:avLst/>
          </a:prstGeom>
          <a:noFill/>
        </p:spPr>
        <p:txBody>
          <a:bodyPr wrap="square" lIns="45720" rIns="45720" tIns="18288" bIns="18288" anchor="t">
            <a:spAutoFit/>
          </a:bodyPr>
          <a:lstStyle/>
          <a:p>
            <a:pPr algn="l">
              <a:lnSpc>
                <a:spcPct val="118000"/>
              </a:lnSpc>
              <a:spcAft>
                <a:spcPts val="400"/>
              </a:spcAft>
            </a:pPr>
            <a:r>
              <a:rPr sz="2200" b="1" i="0">
                <a:solidFill>
                  <a:srgbClr val="142A55"/>
                </a:solidFill>
                <a:latin typeface="Calibri"/>
              </a:rPr>
              <a:t>Aniket Pandey</a:t>
            </a:r>
          </a:p>
          <a:p>
            <a:pPr algn="l">
              <a:lnSpc>
                <a:spcPct val="118000"/>
              </a:lnSpc>
              <a:spcAft>
                <a:spcPts val="200"/>
              </a:spcAft>
            </a:pPr>
            <a:r>
              <a:rPr sz="1600" b="0" i="0">
                <a:solidFill>
                  <a:srgbClr val="1F2937"/>
                </a:solidFill>
                <a:latin typeface="Calibri"/>
              </a:rPr>
              <a:t>B.Tech + MS Economics</a:t>
            </a:r>
          </a:p>
          <a:p>
            <a:pPr algn="l">
              <a:lnSpc>
                <a:spcPct val="118000"/>
              </a:lnSpc>
              <a:spcAft>
                <a:spcPts val="200"/>
              </a:spcAft>
            </a:pPr>
            <a:r>
              <a:rPr sz="1400" b="0" i="0">
                <a:solidFill>
                  <a:srgbClr val="4B5563"/>
                </a:solidFill>
                <a:latin typeface="Calibri"/>
              </a:rPr>
              <a:t>School Of Engineering, JNU</a:t>
            </a:r>
          </a:p>
          <a:p>
            <a:pPr algn="l">
              <a:lnSpc>
                <a:spcPct val="118000"/>
              </a:lnSpc>
            </a:pPr>
            <a:r>
              <a:rPr sz="1400" b="0" i="0">
                <a:solidFill>
                  <a:srgbClr val="4B5563"/>
                </a:solidFill>
                <a:latin typeface="Calibri"/>
              </a:rPr>
              <a:t>Supervisor: Prof. Shakti Kumar</a:t>
            </a:r>
          </a:p>
        </p:txBody>
      </p:sp>
      <p:sp>
        <p:nvSpPr>
          <p:cNvPr id="8" name="Chevron 7"/>
          <p:cNvSpPr/>
          <p:nvPr/>
        </p:nvSpPr>
        <p:spPr>
          <a:xfrm>
            <a:off x="914400" y="5760720"/>
            <a:ext cx="2331720" cy="502920"/>
          </a:xfrm>
          <a:prstGeom prst="chevron">
            <a:avLst/>
          </a:prstGeom>
          <a:solidFill>
            <a:srgbClr val="142A55"/>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164592" tIns="36576" bIns="36576" wrap="square"/>
          <a:lstStyle/>
          <a:p>
            <a:pPr algn="ctr">
              <a:lnSpc>
                <a:spcPct val="105000"/>
              </a:lnSpc>
            </a:pPr>
            <a:r>
              <a:rPr sz="1200" b="1">
                <a:solidFill>
                  <a:srgbClr val="FFFFFF"/>
                </a:solidFill>
                <a:latin typeface="Calibri"/>
              </a:rPr>
              <a:t>Brent crude</a:t>
            </a:r>
          </a:p>
        </p:txBody>
      </p:sp>
      <p:sp>
        <p:nvSpPr>
          <p:cNvPr id="9" name="Chevron 8"/>
          <p:cNvSpPr/>
          <p:nvPr/>
        </p:nvSpPr>
        <p:spPr>
          <a:xfrm>
            <a:off x="3337560" y="5760720"/>
            <a:ext cx="2331720" cy="502920"/>
          </a:xfrm>
          <a:prstGeom prst="chevron">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164592" tIns="36576" bIns="36576" wrap="square"/>
          <a:lstStyle/>
          <a:p>
            <a:pPr algn="ctr">
              <a:lnSpc>
                <a:spcPct val="105000"/>
              </a:lnSpc>
            </a:pPr>
            <a:r>
              <a:rPr sz="1200" b="1">
                <a:solidFill>
                  <a:srgbClr val="FFFFFF"/>
                </a:solidFill>
                <a:latin typeface="Calibri"/>
              </a:rPr>
              <a:t>Retail petrol</a:t>
            </a:r>
          </a:p>
        </p:txBody>
      </p:sp>
      <p:sp>
        <p:nvSpPr>
          <p:cNvPr id="10" name="Chevron 9"/>
          <p:cNvSpPr/>
          <p:nvPr/>
        </p:nvSpPr>
        <p:spPr>
          <a:xfrm>
            <a:off x="5760720" y="5760720"/>
            <a:ext cx="2331720" cy="502920"/>
          </a:xfrm>
          <a:prstGeom prst="chevron">
            <a:avLst/>
          </a:prstGeom>
          <a:solidFill>
            <a:srgbClr val="C2760C"/>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164592" tIns="36576" bIns="36576" wrap="square"/>
          <a:lstStyle/>
          <a:p>
            <a:pPr algn="ctr">
              <a:lnSpc>
                <a:spcPct val="105000"/>
              </a:lnSpc>
            </a:pPr>
            <a:r>
              <a:rPr sz="1200" b="1">
                <a:solidFill>
                  <a:srgbClr val="FFFFFF"/>
                </a:solidFill>
                <a:latin typeface="Calibri"/>
              </a:rPr>
              <a:t>Wholesale prices</a:t>
            </a:r>
          </a:p>
        </p:txBody>
      </p:sp>
      <p:sp>
        <p:nvSpPr>
          <p:cNvPr id="11" name="Chevron 10"/>
          <p:cNvSpPr/>
          <p:nvPr/>
        </p:nvSpPr>
        <p:spPr>
          <a:xfrm>
            <a:off x="8183880" y="5760720"/>
            <a:ext cx="2331720" cy="502920"/>
          </a:xfrm>
          <a:prstGeom prst="chevron">
            <a:avLst/>
          </a:prstGeom>
          <a:solidFill>
            <a:srgbClr val="475569"/>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164592" tIns="36576" bIns="36576" wrap="square"/>
          <a:lstStyle/>
          <a:p>
            <a:pPr algn="ctr">
              <a:lnSpc>
                <a:spcPct val="105000"/>
              </a:lnSpc>
            </a:pPr>
            <a:r>
              <a:rPr sz="1200" b="1">
                <a:solidFill>
                  <a:srgbClr val="FFFFFF"/>
                </a:solidFill>
                <a:latin typeface="Calibri"/>
              </a:rPr>
              <a:t>Consumer basket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411480"/>
            <a:ext cx="11185855" cy="777240"/>
          </a:xfrm>
          <a:prstGeom prst="rect">
            <a:avLst/>
          </a:prstGeom>
          <a:noFill/>
        </p:spPr>
        <p:txBody>
          <a:bodyPr wrap="square" lIns="45720" rIns="45720" tIns="18288" bIns="18288" anchor="t">
            <a:spAutoFit/>
          </a:bodyPr>
          <a:lstStyle/>
          <a:p>
            <a:pPr algn="l">
              <a:lnSpc>
                <a:spcPct val="115000"/>
              </a:lnSpc>
            </a:pPr>
            <a:r>
              <a:rPr sz="3000" b="1" i="0">
                <a:solidFill>
                  <a:srgbClr val="142A55"/>
                </a:solidFill>
                <a:latin typeface="Calibri"/>
              </a:rPr>
              <a:t>Why oil-price pass-through matters for India</a:t>
            </a:r>
          </a:p>
        </p:txBody>
      </p:sp>
      <p:sp>
        <p:nvSpPr>
          <p:cNvPr id="4" name="Rectangle 3"/>
          <p:cNvSpPr/>
          <p:nvPr/>
        </p:nvSpPr>
        <p:spPr>
          <a:xfrm>
            <a:off x="502920" y="1207008"/>
            <a:ext cx="1097280" cy="36576"/>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600200" y="1207008"/>
            <a:ext cx="1008857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02920" y="6400800"/>
            <a:ext cx="11185855"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02920" y="6446520"/>
            <a:ext cx="10271455" cy="292608"/>
          </a:xfrm>
          <a:prstGeom prst="rect">
            <a:avLst/>
          </a:prstGeom>
          <a:noFill/>
        </p:spPr>
        <p:txBody>
          <a:bodyPr wrap="square" lIns="45720" rIns="45720" tIns="18288" bIns="18288" anchor="t">
            <a:spAutoFit/>
          </a:bodyPr>
          <a:lstStyle/>
          <a:p>
            <a:pPr algn="l">
              <a:lnSpc>
                <a:spcPct val="115000"/>
              </a:lnSpc>
            </a:pPr>
            <a:r>
              <a:rPr sz="900" b="0" i="0">
                <a:solidFill>
                  <a:srgbClr val="4B5563"/>
                </a:solidFill>
                <a:latin typeface="Calibri"/>
              </a:rPr>
              <a:t>Layered oil-price pass-through in India  |  Aniket Pandey, B.Tech + MS Economics</a:t>
            </a:r>
          </a:p>
        </p:txBody>
      </p:sp>
      <p:sp>
        <p:nvSpPr>
          <p:cNvPr id="8" name="TextBox 7"/>
          <p:cNvSpPr txBox="1"/>
          <p:nvPr/>
        </p:nvSpPr>
        <p:spPr>
          <a:xfrm>
            <a:off x="10591495" y="6446520"/>
            <a:ext cx="1097280" cy="292608"/>
          </a:xfrm>
          <a:prstGeom prst="rect">
            <a:avLst/>
          </a:prstGeom>
          <a:noFill/>
        </p:spPr>
        <p:txBody>
          <a:bodyPr wrap="square" lIns="45720" rIns="45720" tIns="18288" bIns="18288" anchor="t">
            <a:spAutoFit/>
          </a:bodyPr>
          <a:lstStyle/>
          <a:p>
            <a:pPr algn="r">
              <a:lnSpc>
                <a:spcPct val="115000"/>
              </a:lnSpc>
            </a:pPr>
            <a:r>
              <a:rPr sz="900" b="0" i="0">
                <a:solidFill>
                  <a:srgbClr val="4B5563"/>
                </a:solidFill>
                <a:latin typeface="Calibri"/>
              </a:rPr>
              <a:t>Slide 1 of 11</a:t>
            </a:r>
          </a:p>
        </p:txBody>
      </p:sp>
      <p:sp>
        <p:nvSpPr>
          <p:cNvPr id="9" name="TextBox 8"/>
          <p:cNvSpPr txBox="1"/>
          <p:nvPr/>
        </p:nvSpPr>
        <p:spPr>
          <a:xfrm>
            <a:off x="502920" y="1417320"/>
            <a:ext cx="11185855" cy="3657600"/>
          </a:xfrm>
          <a:prstGeom prst="rect">
            <a:avLst/>
          </a:prstGeom>
          <a:noFill/>
        </p:spPr>
        <p:txBody>
          <a:bodyPr wrap="square" lIns="45720" rIns="45720" tIns="18288" bIns="18288" anchor="t">
            <a:spAutoFit/>
          </a:bodyPr>
          <a:lstStyle/>
          <a:p>
            <a:pPr algn="l">
              <a:lnSpc>
                <a:spcPct val="118000"/>
              </a:lnSpc>
              <a:spcAft>
                <a:spcPts val="1200"/>
              </a:spcAft>
            </a:pPr>
            <a:r>
              <a:rPr sz="1900" b="1" i="0">
                <a:solidFill>
                  <a:srgbClr val="B31B1B"/>
                </a:solidFill>
                <a:latin typeface="Calibri"/>
              </a:rPr>
              <a:t>▪  </a:t>
            </a:r>
            <a:r>
              <a:rPr sz="1900" b="0" i="0">
                <a:solidFill>
                  <a:srgbClr val="1F2937"/>
                </a:solidFill>
                <a:latin typeface="Calibri"/>
              </a:rPr>
              <a:t>India imports a large share of its crude oil.</a:t>
            </a:r>
          </a:p>
          <a:p>
            <a:pPr algn="l">
              <a:lnSpc>
                <a:spcPct val="118000"/>
              </a:lnSpc>
              <a:spcAft>
                <a:spcPts val="1200"/>
              </a:spcAft>
            </a:pPr>
            <a:r>
              <a:rPr sz="1900" b="1" i="0">
                <a:solidFill>
                  <a:srgbClr val="B31B1B"/>
                </a:solidFill>
                <a:latin typeface="Calibri"/>
              </a:rPr>
              <a:t>▪  </a:t>
            </a:r>
            <a:r>
              <a:rPr sz="1900" b="0" i="0">
                <a:solidFill>
                  <a:srgbClr val="1F2937"/>
                </a:solidFill>
                <a:latin typeface="Calibri"/>
              </a:rPr>
              <a:t>Crude is priced internationally, mainly in US dollars.</a:t>
            </a:r>
          </a:p>
          <a:p>
            <a:pPr algn="l">
              <a:lnSpc>
                <a:spcPct val="118000"/>
              </a:lnSpc>
              <a:spcAft>
                <a:spcPts val="1200"/>
              </a:spcAft>
            </a:pPr>
            <a:r>
              <a:rPr sz="1900" b="1" i="0">
                <a:solidFill>
                  <a:srgbClr val="B31B1B"/>
                </a:solidFill>
                <a:latin typeface="Calibri"/>
              </a:rPr>
              <a:t>▪  </a:t>
            </a:r>
            <a:r>
              <a:rPr sz="1900" b="0" i="0">
                <a:solidFill>
                  <a:srgbClr val="1F2937"/>
                </a:solidFill>
                <a:latin typeface="Calibri"/>
              </a:rPr>
              <a:t>Domestic oil pressure comes from Brent crude and INR/USD jointly.</a:t>
            </a:r>
          </a:p>
          <a:p>
            <a:pPr algn="l">
              <a:lnSpc>
                <a:spcPct val="118000"/>
              </a:lnSpc>
              <a:spcAft>
                <a:spcPts val="1200"/>
              </a:spcAft>
            </a:pPr>
            <a:r>
              <a:rPr sz="1900" b="1" i="0">
                <a:solidFill>
                  <a:srgbClr val="B31B1B"/>
                </a:solidFill>
                <a:latin typeface="Calibri"/>
              </a:rPr>
              <a:t>▪  </a:t>
            </a:r>
            <a:r>
              <a:rPr sz="1900" b="0" i="0">
                <a:solidFill>
                  <a:srgbClr val="1F2937"/>
                </a:solidFill>
                <a:latin typeface="Calibri"/>
              </a:rPr>
              <a:t>Oil moves through retail petrol, wholesale fuel, transport, and input costs.</a:t>
            </a:r>
          </a:p>
          <a:p>
            <a:pPr algn="l">
              <a:lnSpc>
                <a:spcPct val="118000"/>
              </a:lnSpc>
              <a:spcAft>
                <a:spcPts val="1200"/>
              </a:spcAft>
            </a:pPr>
            <a:r>
              <a:rPr sz="1900" b="1" i="0">
                <a:solidFill>
                  <a:srgbClr val="B31B1B"/>
                </a:solidFill>
                <a:latin typeface="Calibri"/>
              </a:rPr>
              <a:t>▪  </a:t>
            </a:r>
            <a:r>
              <a:rPr sz="1900" b="0" i="0">
                <a:solidFill>
                  <a:srgbClr val="1F2937"/>
                </a:solidFill>
                <a:latin typeface="Calibri"/>
              </a:rPr>
              <a:t>Headline CPI does not respond one-for-one with oil.</a:t>
            </a:r>
          </a:p>
        </p:txBody>
      </p:sp>
      <p:sp>
        <p:nvSpPr>
          <p:cNvPr id="10" name="Rounded Rectangle 9"/>
          <p:cNvSpPr/>
          <p:nvPr/>
        </p:nvSpPr>
        <p:spPr>
          <a:xfrm>
            <a:off x="502920" y="5074920"/>
            <a:ext cx="3017520" cy="777240"/>
          </a:xfrm>
          <a:prstGeom prst="roundRect">
            <a:avLst>
              <a:gd name="adj" fmla="val 8000"/>
            </a:avLst>
          </a:prstGeom>
          <a:solidFill>
            <a:srgbClr val="FFFFFF"/>
          </a:solidFill>
          <a:ln w="15875">
            <a:solidFill>
              <a:srgbClr val="14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5074920"/>
            <a:ext cx="3017520" cy="777240"/>
          </a:xfrm>
          <a:prstGeom prst="rect">
            <a:avLst/>
          </a:prstGeom>
          <a:noFill/>
        </p:spPr>
        <p:txBody>
          <a:bodyPr wrap="square" lIns="45720" rIns="45720" tIns="18288" bIns="18288" anchor="ctr">
            <a:spAutoFit/>
          </a:bodyPr>
          <a:lstStyle/>
          <a:p>
            <a:pPr algn="ctr">
              <a:lnSpc>
                <a:spcPct val="110000"/>
              </a:lnSpc>
            </a:pPr>
            <a:r>
              <a:rPr sz="1400" b="1" i="0">
                <a:solidFill>
                  <a:srgbClr val="142A55"/>
                </a:solidFill>
                <a:latin typeface="Calibri"/>
              </a:rPr>
              <a:t>Brent crude  +  INR/USD</a:t>
            </a:r>
          </a:p>
        </p:txBody>
      </p:sp>
      <p:sp>
        <p:nvSpPr>
          <p:cNvPr id="12" name="Right Arrow 11"/>
          <p:cNvSpPr/>
          <p:nvPr/>
        </p:nvSpPr>
        <p:spPr>
          <a:xfrm>
            <a:off x="3566160" y="5280660"/>
            <a:ext cx="502920" cy="365760"/>
          </a:xfrm>
          <a:prstGeom prst="rightArrow">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114800" y="5074920"/>
            <a:ext cx="3017520" cy="777240"/>
          </a:xfrm>
          <a:prstGeom prst="roundRect">
            <a:avLst>
              <a:gd name="adj" fmla="val 8000"/>
            </a:avLst>
          </a:prstGeom>
          <a:solidFill>
            <a:srgbClr val="FFFFFF"/>
          </a:solidFill>
          <a:ln w="15875">
            <a:solidFill>
              <a:srgbClr val="B31B1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114800" y="5074920"/>
            <a:ext cx="3017520" cy="777240"/>
          </a:xfrm>
          <a:prstGeom prst="rect">
            <a:avLst/>
          </a:prstGeom>
          <a:noFill/>
        </p:spPr>
        <p:txBody>
          <a:bodyPr wrap="square" lIns="45720" rIns="45720" tIns="18288" bIns="18288" anchor="ctr">
            <a:spAutoFit/>
          </a:bodyPr>
          <a:lstStyle/>
          <a:p>
            <a:pPr algn="ctr">
              <a:lnSpc>
                <a:spcPct val="110000"/>
              </a:lnSpc>
            </a:pPr>
            <a:r>
              <a:rPr sz="1400" b="1" i="0">
                <a:solidFill>
                  <a:srgbClr val="B31B1B"/>
                </a:solidFill>
                <a:latin typeface="Calibri"/>
              </a:rPr>
              <a:t>Domestic oil-cost pressure</a:t>
            </a:r>
          </a:p>
        </p:txBody>
      </p:sp>
      <p:sp>
        <p:nvSpPr>
          <p:cNvPr id="15" name="Right Arrow 14"/>
          <p:cNvSpPr/>
          <p:nvPr/>
        </p:nvSpPr>
        <p:spPr>
          <a:xfrm>
            <a:off x="7178040" y="5280660"/>
            <a:ext cx="502920" cy="365760"/>
          </a:xfrm>
          <a:prstGeom prst="rightArrow">
            <a:avLst/>
          </a:prstGeom>
          <a:solidFill>
            <a:srgbClr val="C2760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7726680" y="5074920"/>
            <a:ext cx="3017520" cy="777240"/>
          </a:xfrm>
          <a:prstGeom prst="roundRect">
            <a:avLst>
              <a:gd name="adj" fmla="val 8000"/>
            </a:avLst>
          </a:prstGeom>
          <a:solidFill>
            <a:srgbClr val="FFFFFF"/>
          </a:solidFill>
          <a:ln w="15875">
            <a:solidFill>
              <a:srgbClr val="C276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26680" y="5074920"/>
            <a:ext cx="3017520" cy="777240"/>
          </a:xfrm>
          <a:prstGeom prst="rect">
            <a:avLst/>
          </a:prstGeom>
          <a:noFill/>
        </p:spPr>
        <p:txBody>
          <a:bodyPr wrap="square" lIns="45720" rIns="45720" tIns="18288" bIns="18288" anchor="ctr">
            <a:spAutoFit/>
          </a:bodyPr>
          <a:lstStyle/>
          <a:p>
            <a:pPr algn="ctr">
              <a:lnSpc>
                <a:spcPct val="110000"/>
              </a:lnSpc>
            </a:pPr>
            <a:r>
              <a:rPr sz="1400" b="1" i="0">
                <a:solidFill>
                  <a:srgbClr val="C2760C"/>
                </a:solidFill>
                <a:latin typeface="Calibri"/>
              </a:rPr>
              <a:t>Indian price system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411480"/>
            <a:ext cx="11185855" cy="777240"/>
          </a:xfrm>
          <a:prstGeom prst="rect">
            <a:avLst/>
          </a:prstGeom>
          <a:noFill/>
        </p:spPr>
        <p:txBody>
          <a:bodyPr wrap="square" lIns="45720" rIns="45720" tIns="18288" bIns="18288" anchor="t">
            <a:spAutoFit/>
          </a:bodyPr>
          <a:lstStyle/>
          <a:p>
            <a:pPr algn="l">
              <a:lnSpc>
                <a:spcPct val="115000"/>
              </a:lnSpc>
            </a:pPr>
            <a:r>
              <a:rPr sz="3000" b="1" i="0">
                <a:solidFill>
                  <a:srgbClr val="142A55"/>
                </a:solidFill>
                <a:latin typeface="Calibri"/>
              </a:rPr>
              <a:t>Objective and research question</a:t>
            </a:r>
          </a:p>
        </p:txBody>
      </p:sp>
      <p:sp>
        <p:nvSpPr>
          <p:cNvPr id="4" name="Rectangle 3"/>
          <p:cNvSpPr/>
          <p:nvPr/>
        </p:nvSpPr>
        <p:spPr>
          <a:xfrm>
            <a:off x="502920" y="1207008"/>
            <a:ext cx="1097280" cy="36576"/>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600200" y="1207008"/>
            <a:ext cx="1008857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02920" y="6400800"/>
            <a:ext cx="11185855"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02920" y="6446520"/>
            <a:ext cx="10271455" cy="292608"/>
          </a:xfrm>
          <a:prstGeom prst="rect">
            <a:avLst/>
          </a:prstGeom>
          <a:noFill/>
        </p:spPr>
        <p:txBody>
          <a:bodyPr wrap="square" lIns="45720" rIns="45720" tIns="18288" bIns="18288" anchor="t">
            <a:spAutoFit/>
          </a:bodyPr>
          <a:lstStyle/>
          <a:p>
            <a:pPr algn="l">
              <a:lnSpc>
                <a:spcPct val="115000"/>
              </a:lnSpc>
            </a:pPr>
            <a:r>
              <a:rPr sz="900" b="0" i="0">
                <a:solidFill>
                  <a:srgbClr val="4B5563"/>
                </a:solidFill>
                <a:latin typeface="Calibri"/>
              </a:rPr>
              <a:t>Layered oil-price pass-through in India  |  Aniket Pandey, B.Tech + MS Economics</a:t>
            </a:r>
          </a:p>
        </p:txBody>
      </p:sp>
      <p:sp>
        <p:nvSpPr>
          <p:cNvPr id="8" name="TextBox 7"/>
          <p:cNvSpPr txBox="1"/>
          <p:nvPr/>
        </p:nvSpPr>
        <p:spPr>
          <a:xfrm>
            <a:off x="10591495" y="6446520"/>
            <a:ext cx="1097280" cy="292608"/>
          </a:xfrm>
          <a:prstGeom prst="rect">
            <a:avLst/>
          </a:prstGeom>
          <a:noFill/>
        </p:spPr>
        <p:txBody>
          <a:bodyPr wrap="square" lIns="45720" rIns="45720" tIns="18288" bIns="18288" anchor="t">
            <a:spAutoFit/>
          </a:bodyPr>
          <a:lstStyle/>
          <a:p>
            <a:pPr algn="r">
              <a:lnSpc>
                <a:spcPct val="115000"/>
              </a:lnSpc>
            </a:pPr>
            <a:r>
              <a:rPr sz="900" b="0" i="0">
                <a:solidFill>
                  <a:srgbClr val="4B5563"/>
                </a:solidFill>
                <a:latin typeface="Calibri"/>
              </a:rPr>
              <a:t>Slide 2 of 11</a:t>
            </a:r>
          </a:p>
        </p:txBody>
      </p:sp>
      <p:sp>
        <p:nvSpPr>
          <p:cNvPr id="9" name="Rounded Rectangle 8"/>
          <p:cNvSpPr/>
          <p:nvPr/>
        </p:nvSpPr>
        <p:spPr>
          <a:xfrm>
            <a:off x="502920" y="1417320"/>
            <a:ext cx="11185855" cy="1325880"/>
          </a:xfrm>
          <a:prstGeom prst="roundRect">
            <a:avLst>
              <a:gd name="adj" fmla="val 8000"/>
            </a:avLst>
          </a:prstGeom>
          <a:solidFill>
            <a:srgbClr val="ECF1F8"/>
          </a:solidFill>
          <a:ln w="12700">
            <a:solidFill>
              <a:srgbClr val="14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08760"/>
            <a:ext cx="10637215" cy="1143000"/>
          </a:xfrm>
          <a:prstGeom prst="rect">
            <a:avLst/>
          </a:prstGeom>
          <a:noFill/>
        </p:spPr>
        <p:txBody>
          <a:bodyPr wrap="square" lIns="45720" rIns="45720" tIns="18288" bIns="18288" anchor="t">
            <a:spAutoFit/>
          </a:bodyPr>
          <a:lstStyle/>
          <a:p>
            <a:pPr algn="l">
              <a:lnSpc>
                <a:spcPct val="118000"/>
              </a:lnSpc>
              <a:spcAft>
                <a:spcPts val="400"/>
              </a:spcAft>
            </a:pPr>
            <a:r>
              <a:rPr sz="1400" b="1" i="0">
                <a:solidFill>
                  <a:srgbClr val="B31B1B"/>
                </a:solidFill>
                <a:latin typeface="Calibri"/>
              </a:rPr>
              <a:t>Research question</a:t>
            </a:r>
          </a:p>
          <a:p>
            <a:pPr algn="l">
              <a:lnSpc>
                <a:spcPct val="125000"/>
              </a:lnSpc>
            </a:pPr>
            <a:r>
              <a:rPr sz="1800" b="0" i="1">
                <a:solidFill>
                  <a:srgbClr val="0B1B3A"/>
                </a:solidFill>
                <a:latin typeface="Calibri"/>
              </a:rPr>
              <a:t>How do global oil-price shocks transmit across India’s wholesale, retail fuel, fuel-sensitive consumer, and headline consumer price layers, and where does this pass-through weaken?</a:t>
            </a:r>
          </a:p>
        </p:txBody>
      </p:sp>
      <p:sp>
        <p:nvSpPr>
          <p:cNvPr id="11" name="Rounded Rectangle 10"/>
          <p:cNvSpPr/>
          <p:nvPr/>
        </p:nvSpPr>
        <p:spPr>
          <a:xfrm>
            <a:off x="502920" y="2971800"/>
            <a:ext cx="5455767" cy="3017520"/>
          </a:xfrm>
          <a:prstGeom prst="roundRect">
            <a:avLst>
              <a:gd name="adj" fmla="val 8000"/>
            </a:avLst>
          </a:prstGeom>
          <a:solidFill>
            <a:srgbClr val="FFFFFF"/>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3081528"/>
            <a:ext cx="4998567" cy="365760"/>
          </a:xfrm>
          <a:prstGeom prst="rect">
            <a:avLst/>
          </a:prstGeom>
          <a:noFill/>
        </p:spPr>
        <p:txBody>
          <a:bodyPr wrap="square" lIns="45720" rIns="45720" tIns="18288" bIns="18288" anchor="t">
            <a:spAutoFit/>
          </a:bodyPr>
          <a:lstStyle/>
          <a:p>
            <a:pPr algn="l">
              <a:lnSpc>
                <a:spcPct val="115000"/>
              </a:lnSpc>
            </a:pPr>
            <a:r>
              <a:rPr sz="1600" b="1" i="0">
                <a:solidFill>
                  <a:srgbClr val="142A55"/>
                </a:solidFill>
                <a:latin typeface="Calibri"/>
              </a:rPr>
              <a:t>Objective</a:t>
            </a:r>
          </a:p>
        </p:txBody>
      </p:sp>
      <p:sp>
        <p:nvSpPr>
          <p:cNvPr id="13" name="TextBox 12"/>
          <p:cNvSpPr txBox="1"/>
          <p:nvPr/>
        </p:nvSpPr>
        <p:spPr>
          <a:xfrm>
            <a:off x="731520" y="3474720"/>
            <a:ext cx="4998567" cy="2377440"/>
          </a:xfrm>
          <a:prstGeom prst="rect">
            <a:avLst/>
          </a:prstGeom>
          <a:noFill/>
        </p:spPr>
        <p:txBody>
          <a:bodyPr wrap="square" lIns="45720" rIns="45720" tIns="18288" bIns="18288" anchor="t">
            <a:spAutoFit/>
          </a:bodyPr>
          <a:lstStyle/>
          <a:p>
            <a:pPr algn="l">
              <a:lnSpc>
                <a:spcPct val="118000"/>
              </a:lnSpc>
              <a:spcAft>
                <a:spcPts val="1000"/>
              </a:spcAft>
            </a:pPr>
            <a:r>
              <a:rPr sz="1600" b="1" i="0">
                <a:solidFill>
                  <a:srgbClr val="B31B1B"/>
                </a:solidFill>
                <a:latin typeface="Calibri"/>
              </a:rPr>
              <a:t>▪  </a:t>
            </a:r>
            <a:r>
              <a:rPr sz="1600" b="0" i="0">
                <a:solidFill>
                  <a:srgbClr val="1F2937"/>
                </a:solidFill>
                <a:latin typeface="Calibri"/>
              </a:rPr>
              <a:t>Estimate short-run oil-price pass-through across multiple Indian price layers.</a:t>
            </a:r>
          </a:p>
          <a:p>
            <a:pPr algn="l">
              <a:lnSpc>
                <a:spcPct val="118000"/>
              </a:lnSpc>
              <a:spcAft>
                <a:spcPts val="1000"/>
              </a:spcAft>
            </a:pPr>
            <a:r>
              <a:rPr sz="1600" b="1" i="0">
                <a:solidFill>
                  <a:srgbClr val="B31B1B"/>
                </a:solidFill>
                <a:latin typeface="Calibri"/>
              </a:rPr>
              <a:t>▪  </a:t>
            </a:r>
            <a:r>
              <a:rPr sz="1600" b="0" i="0">
                <a:solidFill>
                  <a:srgbClr val="1F2937"/>
                </a:solidFill>
                <a:latin typeface="Calibri"/>
              </a:rPr>
              <a:t>Identify the point at which the shock attenuates before reaching headline CPI.</a:t>
            </a:r>
          </a:p>
          <a:p>
            <a:pPr algn="l">
              <a:lnSpc>
                <a:spcPct val="118000"/>
              </a:lnSpc>
              <a:spcAft>
                <a:spcPts val="1000"/>
              </a:spcAft>
            </a:pPr>
            <a:r>
              <a:rPr sz="1600" b="1" i="0">
                <a:solidFill>
                  <a:srgbClr val="B31B1B"/>
                </a:solidFill>
                <a:latin typeface="Calibri"/>
              </a:rPr>
              <a:t>▪  </a:t>
            </a:r>
            <a:r>
              <a:rPr sz="1600" b="0" i="0">
                <a:solidFill>
                  <a:srgbClr val="1F2937"/>
                </a:solidFill>
                <a:latin typeface="Calibri"/>
              </a:rPr>
              <a:t>Compare strong and weak segments of the price system, layer by layer.</a:t>
            </a:r>
          </a:p>
        </p:txBody>
      </p:sp>
      <p:sp>
        <p:nvSpPr>
          <p:cNvPr id="14" name="Rounded Rectangle 13"/>
          <p:cNvSpPr/>
          <p:nvPr/>
        </p:nvSpPr>
        <p:spPr>
          <a:xfrm>
            <a:off x="6233007" y="2971800"/>
            <a:ext cx="5455767" cy="3017520"/>
          </a:xfrm>
          <a:prstGeom prst="roundRect">
            <a:avLst>
              <a:gd name="adj" fmla="val 8000"/>
            </a:avLst>
          </a:prstGeom>
          <a:solidFill>
            <a:srgbClr val="FFFFFF"/>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1607" y="3081528"/>
            <a:ext cx="4998567" cy="365760"/>
          </a:xfrm>
          <a:prstGeom prst="rect">
            <a:avLst/>
          </a:prstGeom>
          <a:noFill/>
        </p:spPr>
        <p:txBody>
          <a:bodyPr wrap="square" lIns="45720" rIns="45720" tIns="18288" bIns="18288" anchor="t">
            <a:spAutoFit/>
          </a:bodyPr>
          <a:lstStyle/>
          <a:p>
            <a:pPr algn="l">
              <a:lnSpc>
                <a:spcPct val="115000"/>
              </a:lnSpc>
            </a:pPr>
            <a:r>
              <a:rPr sz="1600" b="1" i="0">
                <a:solidFill>
                  <a:srgbClr val="142A55"/>
                </a:solidFill>
                <a:latin typeface="Calibri"/>
              </a:rPr>
              <a:t>Contribution</a:t>
            </a:r>
          </a:p>
        </p:txBody>
      </p:sp>
      <p:sp>
        <p:nvSpPr>
          <p:cNvPr id="16" name="TextBox 15"/>
          <p:cNvSpPr txBox="1"/>
          <p:nvPr/>
        </p:nvSpPr>
        <p:spPr>
          <a:xfrm>
            <a:off x="6461607" y="3474720"/>
            <a:ext cx="4998567" cy="2377440"/>
          </a:xfrm>
          <a:prstGeom prst="rect">
            <a:avLst/>
          </a:prstGeom>
          <a:noFill/>
        </p:spPr>
        <p:txBody>
          <a:bodyPr wrap="square" lIns="45720" rIns="45720" tIns="18288" bIns="18288" anchor="t">
            <a:spAutoFit/>
          </a:bodyPr>
          <a:lstStyle/>
          <a:p>
            <a:pPr algn="l">
              <a:lnSpc>
                <a:spcPct val="118000"/>
              </a:lnSpc>
              <a:spcAft>
                <a:spcPts val="900"/>
              </a:spcAft>
            </a:pPr>
            <a:r>
              <a:rPr sz="1500" b="1" i="0">
                <a:solidFill>
                  <a:srgbClr val="C2760C"/>
                </a:solidFill>
                <a:latin typeface="Calibri"/>
              </a:rPr>
              <a:t>▪  </a:t>
            </a:r>
            <a:r>
              <a:rPr sz="1500" b="0" i="0">
                <a:solidFill>
                  <a:srgbClr val="1F2937"/>
                </a:solidFill>
                <a:latin typeface="Calibri"/>
              </a:rPr>
              <a:t>Treats oil pass-through as a layered transmission problem.</a:t>
            </a:r>
          </a:p>
          <a:p>
            <a:pPr algn="l">
              <a:lnSpc>
                <a:spcPct val="118000"/>
              </a:lnSpc>
              <a:spcAft>
                <a:spcPts val="900"/>
              </a:spcAft>
            </a:pPr>
            <a:r>
              <a:rPr sz="1500" b="1" i="0">
                <a:solidFill>
                  <a:srgbClr val="C2760C"/>
                </a:solidFill>
                <a:latin typeface="Calibri"/>
              </a:rPr>
              <a:t>▪  </a:t>
            </a:r>
            <a:r>
              <a:rPr sz="1500" b="0" i="0">
                <a:solidFill>
                  <a:srgbClr val="1F2937"/>
                </a:solidFill>
                <a:latin typeface="Calibri"/>
              </a:rPr>
              <a:t>Moves beyond a single oil-to-headline-CPI estimate.</a:t>
            </a:r>
          </a:p>
          <a:p>
            <a:pPr algn="l">
              <a:lnSpc>
                <a:spcPct val="118000"/>
              </a:lnSpc>
              <a:spcAft>
                <a:spcPts val="900"/>
              </a:spcAft>
            </a:pPr>
            <a:r>
              <a:rPr sz="1500" b="1" i="0">
                <a:solidFill>
                  <a:srgbClr val="C2760C"/>
                </a:solidFill>
                <a:latin typeface="Calibri"/>
              </a:rPr>
              <a:t>▪  </a:t>
            </a:r>
            <a:r>
              <a:rPr sz="1500" b="0" i="0">
                <a:solidFill>
                  <a:srgbClr val="1F2937"/>
                </a:solidFill>
                <a:latin typeface="Calibri"/>
              </a:rPr>
              <a:t>Covers five layers: WPI, WPI Fuel, retail petrol, CPI Fuel and Light, headline CPI.</a:t>
            </a:r>
          </a:p>
          <a:p>
            <a:pPr algn="l">
              <a:lnSpc>
                <a:spcPct val="118000"/>
              </a:lnSpc>
              <a:spcAft>
                <a:spcPts val="900"/>
              </a:spcAft>
            </a:pPr>
            <a:r>
              <a:rPr sz="1500" b="1" i="0">
                <a:solidFill>
                  <a:srgbClr val="C2760C"/>
                </a:solidFill>
                <a:latin typeface="Calibri"/>
              </a:rPr>
              <a:t>▪  </a:t>
            </a:r>
            <a:r>
              <a:rPr sz="1500" b="0" i="0">
                <a:solidFill>
                  <a:srgbClr val="1F2937"/>
                </a:solidFill>
                <a:latin typeface="Calibri"/>
              </a:rPr>
              <a:t>Tests attenuation directly on a common sample.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411480"/>
            <a:ext cx="11185855" cy="777240"/>
          </a:xfrm>
          <a:prstGeom prst="rect">
            <a:avLst/>
          </a:prstGeom>
          <a:noFill/>
        </p:spPr>
        <p:txBody>
          <a:bodyPr wrap="square" lIns="45720" rIns="45720" tIns="18288" bIns="18288" anchor="t">
            <a:spAutoFit/>
          </a:bodyPr>
          <a:lstStyle/>
          <a:p>
            <a:pPr algn="l">
              <a:lnSpc>
                <a:spcPct val="115000"/>
              </a:lnSpc>
            </a:pPr>
            <a:r>
              <a:rPr sz="3000" b="1" i="0">
                <a:solidFill>
                  <a:srgbClr val="142A55"/>
                </a:solidFill>
                <a:latin typeface="Calibri"/>
              </a:rPr>
              <a:t>Data sources and variable purpose</a:t>
            </a:r>
          </a:p>
        </p:txBody>
      </p:sp>
      <p:sp>
        <p:nvSpPr>
          <p:cNvPr id="4" name="Rectangle 3"/>
          <p:cNvSpPr/>
          <p:nvPr/>
        </p:nvSpPr>
        <p:spPr>
          <a:xfrm>
            <a:off x="502920" y="1207008"/>
            <a:ext cx="1097280" cy="36576"/>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600200" y="1207008"/>
            <a:ext cx="1008857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02920" y="6400800"/>
            <a:ext cx="11185855"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02920" y="6446520"/>
            <a:ext cx="10271455" cy="292608"/>
          </a:xfrm>
          <a:prstGeom prst="rect">
            <a:avLst/>
          </a:prstGeom>
          <a:noFill/>
        </p:spPr>
        <p:txBody>
          <a:bodyPr wrap="square" lIns="45720" rIns="45720" tIns="18288" bIns="18288" anchor="t">
            <a:spAutoFit/>
          </a:bodyPr>
          <a:lstStyle/>
          <a:p>
            <a:pPr algn="l">
              <a:lnSpc>
                <a:spcPct val="115000"/>
              </a:lnSpc>
            </a:pPr>
            <a:r>
              <a:rPr sz="900" b="0" i="0">
                <a:solidFill>
                  <a:srgbClr val="4B5563"/>
                </a:solidFill>
                <a:latin typeface="Calibri"/>
              </a:rPr>
              <a:t>Layered oil-price pass-through in India  |  Aniket Pandey, B.Tech + MS Economics</a:t>
            </a:r>
          </a:p>
        </p:txBody>
      </p:sp>
      <p:sp>
        <p:nvSpPr>
          <p:cNvPr id="8" name="TextBox 7"/>
          <p:cNvSpPr txBox="1"/>
          <p:nvPr/>
        </p:nvSpPr>
        <p:spPr>
          <a:xfrm>
            <a:off x="10591495" y="6446520"/>
            <a:ext cx="1097280" cy="292608"/>
          </a:xfrm>
          <a:prstGeom prst="rect">
            <a:avLst/>
          </a:prstGeom>
          <a:noFill/>
        </p:spPr>
        <p:txBody>
          <a:bodyPr wrap="square" lIns="45720" rIns="45720" tIns="18288" bIns="18288" anchor="t">
            <a:spAutoFit/>
          </a:bodyPr>
          <a:lstStyle/>
          <a:p>
            <a:pPr algn="r">
              <a:lnSpc>
                <a:spcPct val="115000"/>
              </a:lnSpc>
            </a:pPr>
            <a:r>
              <a:rPr sz="900" b="0" i="0">
                <a:solidFill>
                  <a:srgbClr val="4B5563"/>
                </a:solidFill>
                <a:latin typeface="Calibri"/>
              </a:rPr>
              <a:t>Slide 3 of 11</a:t>
            </a:r>
          </a:p>
        </p:txBody>
      </p:sp>
      <p:graphicFrame>
        <p:nvGraphicFramePr>
          <p:cNvPr id="9" name="Table 8"/>
          <p:cNvGraphicFramePr>
            <a:graphicFrameLocks noGrp="1"/>
          </p:cNvGraphicFramePr>
          <p:nvPr/>
        </p:nvGraphicFramePr>
        <p:xfrm>
          <a:off x="502920" y="1417320"/>
          <a:ext cx="11185854" cy="4617720"/>
        </p:xfrm>
        <a:graphic>
          <a:graphicData uri="http://schemas.openxmlformats.org/drawingml/2006/table">
            <a:tbl>
              <a:tblPr firstRow="1" bandRow="1">
                <a:tableStyleId>{5C22544A-7EE6-4342-B048-85BDC9FD1C3A}</a:tableStyleId>
              </a:tblPr>
              <a:tblGrid>
                <a:gridCol w="2165004"/>
                <a:gridCol w="3608340"/>
                <a:gridCol w="1984587"/>
                <a:gridCol w="3427923"/>
              </a:tblGrid>
              <a:tr h="461772">
                <a:tc>
                  <a:txBody>
                    <a:bodyPr wrap="square"/>
                    <a:lstStyle/>
                    <a:p>
                      <a:pPr algn="l">
                        <a:lnSpc>
                          <a:spcPct val="110000"/>
                        </a:lnSpc>
                      </a:pPr>
                      <a:r>
                        <a:rPr sz="1300" b="1">
                          <a:solidFill>
                            <a:srgbClr val="FFFFFF"/>
                          </a:solidFill>
                          <a:latin typeface="Calibri"/>
                        </a:rPr>
                        <a:t>Series</a:t>
                      </a:r>
                    </a:p>
                  </a:txBody>
                  <a:tcPr marL="73152" marR="73152" marT="36576" marB="36576" anchor="ctr">
                    <a:solidFill>
                      <a:srgbClr val="142A55"/>
                    </a:solidFill>
                  </a:tcPr>
                </a:tc>
                <a:tc>
                  <a:txBody>
                    <a:bodyPr wrap="square"/>
                    <a:lstStyle/>
                    <a:p>
                      <a:pPr algn="l">
                        <a:lnSpc>
                          <a:spcPct val="110000"/>
                        </a:lnSpc>
                      </a:pPr>
                      <a:r>
                        <a:rPr sz="1300" b="1">
                          <a:solidFill>
                            <a:srgbClr val="FFFFFF"/>
                          </a:solidFill>
                          <a:latin typeface="Calibri"/>
                        </a:rPr>
                        <a:t>Source</a:t>
                      </a:r>
                    </a:p>
                  </a:txBody>
                  <a:tcPr marL="73152" marR="73152" marT="36576" marB="36576" anchor="ctr">
                    <a:solidFill>
                      <a:srgbClr val="142A55"/>
                    </a:solidFill>
                  </a:tcPr>
                </a:tc>
                <a:tc>
                  <a:txBody>
                    <a:bodyPr wrap="square"/>
                    <a:lstStyle/>
                    <a:p>
                      <a:pPr algn="l">
                        <a:lnSpc>
                          <a:spcPct val="110000"/>
                        </a:lnSpc>
                      </a:pPr>
                      <a:r>
                        <a:rPr sz="1300" b="1">
                          <a:solidFill>
                            <a:srgbClr val="FFFFFF"/>
                          </a:solidFill>
                          <a:latin typeface="Calibri"/>
                        </a:rPr>
                        <a:t>Transformation</a:t>
                      </a:r>
                    </a:p>
                  </a:txBody>
                  <a:tcPr marL="73152" marR="73152" marT="36576" marB="36576" anchor="ctr">
                    <a:solidFill>
                      <a:srgbClr val="142A55"/>
                    </a:solidFill>
                  </a:tcPr>
                </a:tc>
                <a:tc>
                  <a:txBody>
                    <a:bodyPr wrap="square"/>
                    <a:lstStyle/>
                    <a:p>
                      <a:pPr algn="l">
                        <a:lnSpc>
                          <a:spcPct val="110000"/>
                        </a:lnSpc>
                      </a:pPr>
                      <a:r>
                        <a:rPr sz="1300" b="1">
                          <a:solidFill>
                            <a:srgbClr val="FFFFFF"/>
                          </a:solidFill>
                          <a:latin typeface="Calibri"/>
                        </a:rPr>
                        <a:t>Purpose</a:t>
                      </a:r>
                    </a:p>
                  </a:txBody>
                  <a:tcPr marL="73152" marR="73152" marT="36576" marB="36576" anchor="ctr">
                    <a:solidFill>
                      <a:srgbClr val="142A55"/>
                    </a:solidFill>
                  </a:tcPr>
                </a:tc>
              </a:tr>
              <a:tr h="461772">
                <a:tc>
                  <a:txBody>
                    <a:bodyPr wrap="square"/>
                    <a:lstStyle/>
                    <a:p>
                      <a:pPr algn="l">
                        <a:lnSpc>
                          <a:spcPct val="110000"/>
                        </a:lnSpc>
                      </a:pPr>
                      <a:r>
                        <a:rPr sz="1200" b="0">
                          <a:solidFill>
                            <a:srgbClr val="1F2937"/>
                          </a:solidFill>
                          <a:latin typeface="Calibri"/>
                        </a:rPr>
                        <a:t>Brent crude price</a:t>
                      </a:r>
                    </a:p>
                  </a:txBody>
                  <a:tcPr marL="73152" marR="73152" marT="36576" marB="36576" anchor="ctr">
                    <a:solidFill>
                      <a:srgbClr val="FFFFFF"/>
                    </a:solidFill>
                  </a:tcPr>
                </a:tc>
                <a:tc>
                  <a:txBody>
                    <a:bodyPr wrap="square"/>
                    <a:lstStyle/>
                    <a:p>
                      <a:pPr algn="l">
                        <a:lnSpc>
                          <a:spcPct val="110000"/>
                        </a:lnSpc>
                      </a:pPr>
                      <a:r>
                        <a:rPr sz="1200" b="0">
                          <a:solidFill>
                            <a:srgbClr val="1F2937"/>
                          </a:solidFill>
                          <a:latin typeface="Calibri"/>
                        </a:rPr>
                        <a:t>World Bank Pink Sheet (FRED POILBREUSDM)</a:t>
                      </a:r>
                    </a:p>
                  </a:txBody>
                  <a:tcPr marL="73152" marR="73152" marT="36576" marB="36576" anchor="ctr">
                    <a:solidFill>
                      <a:srgbClr val="FFFFFF"/>
                    </a:solidFill>
                  </a:tcPr>
                </a:tc>
                <a:tc>
                  <a:txBody>
                    <a:bodyPr wrap="square"/>
                    <a:lstStyle/>
                    <a:p>
                      <a:pPr algn="l">
                        <a:lnSpc>
                          <a:spcPct val="110000"/>
                        </a:lnSpc>
                      </a:pPr>
                      <a:r>
                        <a:rPr sz="1200" b="0">
                          <a:solidFill>
                            <a:srgbClr val="1F2937"/>
                          </a:solidFill>
                          <a:latin typeface="Calibri"/>
                        </a:rPr>
                        <a:t>Monthly log difference</a:t>
                      </a:r>
                    </a:p>
                  </a:txBody>
                  <a:tcPr marL="73152" marR="73152" marT="36576" marB="36576" anchor="ctr">
                    <a:solidFill>
                      <a:srgbClr val="FFFFFF"/>
                    </a:solidFill>
                  </a:tcPr>
                </a:tc>
                <a:tc>
                  <a:txBody>
                    <a:bodyPr wrap="square"/>
                    <a:lstStyle/>
                    <a:p>
                      <a:pPr algn="l">
                        <a:lnSpc>
                          <a:spcPct val="110000"/>
                        </a:lnSpc>
                      </a:pPr>
                      <a:r>
                        <a:rPr sz="1200" b="0">
                          <a:solidFill>
                            <a:srgbClr val="1F2937"/>
                          </a:solidFill>
                          <a:latin typeface="Calibri"/>
                        </a:rPr>
                        <a:t>Global oil shock</a:t>
                      </a:r>
                    </a:p>
                  </a:txBody>
                  <a:tcPr marL="73152" marR="73152" marT="36576" marB="36576" anchor="ctr">
                    <a:solidFill>
                      <a:srgbClr val="FFFFFF"/>
                    </a:solidFill>
                  </a:tcPr>
                </a:tc>
              </a:tr>
              <a:tr h="461772">
                <a:tc>
                  <a:txBody>
                    <a:bodyPr wrap="square"/>
                    <a:lstStyle/>
                    <a:p>
                      <a:pPr algn="l">
                        <a:lnSpc>
                          <a:spcPct val="110000"/>
                        </a:lnSpc>
                      </a:pPr>
                      <a:r>
                        <a:rPr sz="1200" b="0">
                          <a:solidFill>
                            <a:srgbClr val="1F2937"/>
                          </a:solidFill>
                          <a:latin typeface="Calibri"/>
                        </a:rPr>
                        <a:t>INR/USD exchange rate</a:t>
                      </a:r>
                    </a:p>
                  </a:txBody>
                  <a:tcPr marL="73152" marR="73152" marT="36576" marB="36576" anchor="ctr">
                    <a:solidFill>
                      <a:srgbClr val="F3F4F6"/>
                    </a:solidFill>
                  </a:tcPr>
                </a:tc>
                <a:tc>
                  <a:txBody>
                    <a:bodyPr wrap="square"/>
                    <a:lstStyle/>
                    <a:p>
                      <a:pPr algn="l">
                        <a:lnSpc>
                          <a:spcPct val="110000"/>
                        </a:lnSpc>
                      </a:pPr>
                      <a:r>
                        <a:rPr sz="1200" b="0">
                          <a:solidFill>
                            <a:srgbClr val="1F2937"/>
                          </a:solidFill>
                          <a:latin typeface="Calibri"/>
                        </a:rPr>
                        <a:t>FRED EXINUS</a:t>
                      </a:r>
                    </a:p>
                  </a:txBody>
                  <a:tcPr marL="73152" marR="73152" marT="36576" marB="36576" anchor="ctr">
                    <a:solidFill>
                      <a:srgbClr val="F3F4F6"/>
                    </a:solidFill>
                  </a:tcPr>
                </a:tc>
                <a:tc>
                  <a:txBody>
                    <a:bodyPr wrap="square"/>
                    <a:lstStyle/>
                    <a:p>
                      <a:pPr algn="l">
                        <a:lnSpc>
                          <a:spcPct val="110000"/>
                        </a:lnSpc>
                      </a:pPr>
                      <a:r>
                        <a:rPr sz="1200" b="0">
                          <a:solidFill>
                            <a:srgbClr val="1F2937"/>
                          </a:solidFill>
                          <a:latin typeface="Calibri"/>
                        </a:rPr>
                        <a:t>Monthly log difference</a:t>
                      </a:r>
                    </a:p>
                  </a:txBody>
                  <a:tcPr marL="73152" marR="73152" marT="36576" marB="36576" anchor="ctr">
                    <a:solidFill>
                      <a:srgbClr val="F3F4F6"/>
                    </a:solidFill>
                  </a:tcPr>
                </a:tc>
                <a:tc>
                  <a:txBody>
                    <a:bodyPr wrap="square"/>
                    <a:lstStyle/>
                    <a:p>
                      <a:pPr algn="l">
                        <a:lnSpc>
                          <a:spcPct val="110000"/>
                        </a:lnSpc>
                      </a:pPr>
                      <a:r>
                        <a:rPr sz="1200" b="0">
                          <a:solidFill>
                            <a:srgbClr val="1F2937"/>
                          </a:solidFill>
                          <a:latin typeface="Calibri"/>
                        </a:rPr>
                        <a:t>Exchange-rate component</a:t>
                      </a:r>
                    </a:p>
                  </a:txBody>
                  <a:tcPr marL="73152" marR="73152" marT="36576" marB="36576" anchor="ctr">
                    <a:solidFill>
                      <a:srgbClr val="F3F4F6"/>
                    </a:solidFill>
                  </a:tcPr>
                </a:tc>
              </a:tr>
              <a:tr h="461772">
                <a:tc>
                  <a:txBody>
                    <a:bodyPr wrap="square"/>
                    <a:lstStyle/>
                    <a:p>
                      <a:pPr algn="l">
                        <a:lnSpc>
                          <a:spcPct val="110000"/>
                        </a:lnSpc>
                      </a:pPr>
                      <a:r>
                        <a:rPr sz="1200" b="0">
                          <a:solidFill>
                            <a:srgbClr val="1F2937"/>
                          </a:solidFill>
                          <a:latin typeface="Calibri"/>
                        </a:rPr>
                        <a:t>Rupee oil price</a:t>
                      </a:r>
                    </a:p>
                  </a:txBody>
                  <a:tcPr marL="73152" marR="73152" marT="36576" marB="36576" anchor="ctr">
                    <a:solidFill>
                      <a:srgbClr val="FFFFFF"/>
                    </a:solidFill>
                  </a:tcPr>
                </a:tc>
                <a:tc>
                  <a:txBody>
                    <a:bodyPr wrap="square"/>
                    <a:lstStyle/>
                    <a:p>
                      <a:pPr algn="l">
                        <a:lnSpc>
                          <a:spcPct val="110000"/>
                        </a:lnSpc>
                      </a:pPr>
                      <a:r>
                        <a:rPr sz="1200" b="0">
                          <a:solidFill>
                            <a:srgbClr val="1F2937"/>
                          </a:solidFill>
                          <a:latin typeface="Calibri"/>
                        </a:rPr>
                        <a:t>Brent × INR/USD</a:t>
                      </a:r>
                    </a:p>
                  </a:txBody>
                  <a:tcPr marL="73152" marR="73152" marT="36576" marB="36576" anchor="ctr">
                    <a:solidFill>
                      <a:srgbClr val="FFFFFF"/>
                    </a:solidFill>
                  </a:tcPr>
                </a:tc>
                <a:tc>
                  <a:txBody>
                    <a:bodyPr wrap="square"/>
                    <a:lstStyle/>
                    <a:p>
                      <a:pPr algn="l">
                        <a:lnSpc>
                          <a:spcPct val="110000"/>
                        </a:lnSpc>
                      </a:pPr>
                      <a:r>
                        <a:rPr sz="1200" b="0">
                          <a:solidFill>
                            <a:srgbClr val="1F2937"/>
                          </a:solidFill>
                          <a:latin typeface="Calibri"/>
                        </a:rPr>
                        <a:t>Monthly log difference</a:t>
                      </a:r>
                    </a:p>
                  </a:txBody>
                  <a:tcPr marL="73152" marR="73152" marT="36576" marB="36576" anchor="ctr">
                    <a:solidFill>
                      <a:srgbClr val="FFFFFF"/>
                    </a:solidFill>
                  </a:tcPr>
                </a:tc>
                <a:tc>
                  <a:txBody>
                    <a:bodyPr wrap="square"/>
                    <a:lstStyle/>
                    <a:p>
                      <a:pPr algn="l">
                        <a:lnSpc>
                          <a:spcPct val="110000"/>
                        </a:lnSpc>
                      </a:pPr>
                      <a:r>
                        <a:rPr sz="1200" b="0">
                          <a:solidFill>
                            <a:srgbClr val="1F2937"/>
                          </a:solidFill>
                          <a:latin typeface="Calibri"/>
                        </a:rPr>
                        <a:t>Oil shock for WPI and headline CPI</a:t>
                      </a:r>
                    </a:p>
                  </a:txBody>
                  <a:tcPr marL="73152" marR="73152" marT="36576" marB="36576" anchor="ctr">
                    <a:solidFill>
                      <a:srgbClr val="FFFFFF"/>
                    </a:solidFill>
                  </a:tcPr>
                </a:tc>
              </a:tr>
              <a:tr h="461772">
                <a:tc>
                  <a:txBody>
                    <a:bodyPr wrap="square"/>
                    <a:lstStyle/>
                    <a:p>
                      <a:pPr algn="l">
                        <a:lnSpc>
                          <a:spcPct val="110000"/>
                        </a:lnSpc>
                      </a:pPr>
                      <a:r>
                        <a:rPr sz="1200" b="0">
                          <a:solidFill>
                            <a:srgbClr val="1F2937"/>
                          </a:solidFill>
                          <a:latin typeface="Calibri"/>
                        </a:rPr>
                        <a:t>Headline WPI</a:t>
                      </a:r>
                    </a:p>
                  </a:txBody>
                  <a:tcPr marL="73152" marR="73152" marT="36576" marB="36576" anchor="ctr">
                    <a:solidFill>
                      <a:srgbClr val="F3F4F6"/>
                    </a:solidFill>
                  </a:tcPr>
                </a:tc>
                <a:tc>
                  <a:txBody>
                    <a:bodyPr wrap="square"/>
                    <a:lstStyle/>
                    <a:p>
                      <a:pPr algn="l">
                        <a:lnSpc>
                          <a:spcPct val="110000"/>
                        </a:lnSpc>
                      </a:pPr>
                      <a:r>
                        <a:rPr sz="1200" b="0">
                          <a:solidFill>
                            <a:srgbClr val="1F2937"/>
                          </a:solidFill>
                          <a:latin typeface="Calibri"/>
                        </a:rPr>
                        <a:t>OEA, chained to 2011-12 base</a:t>
                      </a:r>
                    </a:p>
                  </a:txBody>
                  <a:tcPr marL="73152" marR="73152" marT="36576" marB="36576" anchor="ctr">
                    <a:solidFill>
                      <a:srgbClr val="F3F4F6"/>
                    </a:solidFill>
                  </a:tcPr>
                </a:tc>
                <a:tc>
                  <a:txBody>
                    <a:bodyPr wrap="square"/>
                    <a:lstStyle/>
                    <a:p>
                      <a:pPr algn="l">
                        <a:lnSpc>
                          <a:spcPct val="110000"/>
                        </a:lnSpc>
                      </a:pPr>
                      <a:r>
                        <a:rPr sz="1200" b="0">
                          <a:solidFill>
                            <a:srgbClr val="1F2937"/>
                          </a:solidFill>
                          <a:latin typeface="Calibri"/>
                        </a:rPr>
                        <a:t>Monthly log difference</a:t>
                      </a:r>
                    </a:p>
                  </a:txBody>
                  <a:tcPr marL="73152" marR="73152" marT="36576" marB="36576" anchor="ctr">
                    <a:solidFill>
                      <a:srgbClr val="F3F4F6"/>
                    </a:solidFill>
                  </a:tcPr>
                </a:tc>
                <a:tc>
                  <a:txBody>
                    <a:bodyPr wrap="square"/>
                    <a:lstStyle/>
                    <a:p>
                      <a:pPr algn="l">
                        <a:lnSpc>
                          <a:spcPct val="110000"/>
                        </a:lnSpc>
                      </a:pPr>
                      <a:r>
                        <a:rPr sz="1200" b="0">
                          <a:solidFill>
                            <a:srgbClr val="1F2937"/>
                          </a:solidFill>
                          <a:latin typeface="Calibri"/>
                        </a:rPr>
                        <a:t>Wholesale headline layer</a:t>
                      </a:r>
                    </a:p>
                  </a:txBody>
                  <a:tcPr marL="73152" marR="73152" marT="36576" marB="36576" anchor="ctr">
                    <a:solidFill>
                      <a:srgbClr val="F3F4F6"/>
                    </a:solidFill>
                  </a:tcPr>
                </a:tc>
              </a:tr>
              <a:tr h="461772">
                <a:tc>
                  <a:txBody>
                    <a:bodyPr wrap="square"/>
                    <a:lstStyle/>
                    <a:p>
                      <a:pPr algn="l">
                        <a:lnSpc>
                          <a:spcPct val="110000"/>
                        </a:lnSpc>
                      </a:pPr>
                      <a:r>
                        <a:rPr sz="1200" b="0">
                          <a:solidFill>
                            <a:srgbClr val="1F2937"/>
                          </a:solidFill>
                          <a:latin typeface="Calibri"/>
                        </a:rPr>
                        <a:t>WPI Fuel and Power</a:t>
                      </a:r>
                    </a:p>
                  </a:txBody>
                  <a:tcPr marL="73152" marR="73152" marT="36576" marB="36576" anchor="ctr">
                    <a:solidFill>
                      <a:srgbClr val="FFFFFF"/>
                    </a:solidFill>
                  </a:tcPr>
                </a:tc>
                <a:tc>
                  <a:txBody>
                    <a:bodyPr wrap="square"/>
                    <a:lstStyle/>
                    <a:p>
                      <a:pPr algn="l">
                        <a:lnSpc>
                          <a:spcPct val="110000"/>
                        </a:lnSpc>
                      </a:pPr>
                      <a:r>
                        <a:rPr sz="1200" b="0">
                          <a:solidFill>
                            <a:srgbClr val="1F2937"/>
                          </a:solidFill>
                          <a:latin typeface="Calibri"/>
                        </a:rPr>
                        <a:t>OEA, chained to 2011-12 base</a:t>
                      </a:r>
                    </a:p>
                  </a:txBody>
                  <a:tcPr marL="73152" marR="73152" marT="36576" marB="36576" anchor="ctr">
                    <a:solidFill>
                      <a:srgbClr val="FFFFFF"/>
                    </a:solidFill>
                  </a:tcPr>
                </a:tc>
                <a:tc>
                  <a:txBody>
                    <a:bodyPr wrap="square"/>
                    <a:lstStyle/>
                    <a:p>
                      <a:pPr algn="l">
                        <a:lnSpc>
                          <a:spcPct val="110000"/>
                        </a:lnSpc>
                      </a:pPr>
                      <a:r>
                        <a:rPr sz="1200" b="0">
                          <a:solidFill>
                            <a:srgbClr val="1F2937"/>
                          </a:solidFill>
                          <a:latin typeface="Calibri"/>
                        </a:rPr>
                        <a:t>Monthly log difference</a:t>
                      </a:r>
                    </a:p>
                  </a:txBody>
                  <a:tcPr marL="73152" marR="73152" marT="36576" marB="36576" anchor="ctr">
                    <a:solidFill>
                      <a:srgbClr val="FFFFFF"/>
                    </a:solidFill>
                  </a:tcPr>
                </a:tc>
                <a:tc>
                  <a:txBody>
                    <a:bodyPr wrap="square"/>
                    <a:lstStyle/>
                    <a:p>
                      <a:pPr algn="l">
                        <a:lnSpc>
                          <a:spcPct val="110000"/>
                        </a:lnSpc>
                      </a:pPr>
                      <a:r>
                        <a:rPr sz="1200" b="0">
                          <a:solidFill>
                            <a:srgbClr val="1F2937"/>
                          </a:solidFill>
                          <a:latin typeface="Calibri"/>
                        </a:rPr>
                        <a:t>Wholesale fuel-sensitive layer</a:t>
                      </a:r>
                    </a:p>
                  </a:txBody>
                  <a:tcPr marL="73152" marR="73152" marT="36576" marB="36576" anchor="ctr">
                    <a:solidFill>
                      <a:srgbClr val="FFFFFF"/>
                    </a:solidFill>
                  </a:tcPr>
                </a:tc>
              </a:tr>
              <a:tr h="461772">
                <a:tc>
                  <a:txBody>
                    <a:bodyPr wrap="square"/>
                    <a:lstStyle/>
                    <a:p>
                      <a:pPr algn="l">
                        <a:lnSpc>
                          <a:spcPct val="110000"/>
                        </a:lnSpc>
                      </a:pPr>
                      <a:r>
                        <a:rPr sz="1200" b="0">
                          <a:solidFill>
                            <a:srgbClr val="1F2937"/>
                          </a:solidFill>
                          <a:latin typeface="Calibri"/>
                        </a:rPr>
                        <a:t>PPAC Delhi retail petrol</a:t>
                      </a:r>
                    </a:p>
                  </a:txBody>
                  <a:tcPr marL="73152" marR="73152" marT="36576" marB="36576" anchor="ctr">
                    <a:solidFill>
                      <a:srgbClr val="F3F4F6"/>
                    </a:solidFill>
                  </a:tcPr>
                </a:tc>
                <a:tc>
                  <a:txBody>
                    <a:bodyPr wrap="square"/>
                    <a:lstStyle/>
                    <a:p>
                      <a:pPr algn="l">
                        <a:lnSpc>
                          <a:spcPct val="110000"/>
                        </a:lnSpc>
                      </a:pPr>
                      <a:r>
                        <a:rPr sz="1200" b="0">
                          <a:solidFill>
                            <a:srgbClr val="1F2937"/>
                          </a:solidFill>
                          <a:latin typeface="Calibri"/>
                        </a:rPr>
                        <a:t>PPAC ready reckoner</a:t>
                      </a:r>
                    </a:p>
                  </a:txBody>
                  <a:tcPr marL="73152" marR="73152" marT="36576" marB="36576" anchor="ctr">
                    <a:solidFill>
                      <a:srgbClr val="F3F4F6"/>
                    </a:solidFill>
                  </a:tcPr>
                </a:tc>
                <a:tc>
                  <a:txBody>
                    <a:bodyPr wrap="square"/>
                    <a:lstStyle/>
                    <a:p>
                      <a:pPr algn="l">
                        <a:lnSpc>
                          <a:spcPct val="110000"/>
                        </a:lnSpc>
                      </a:pPr>
                      <a:r>
                        <a:rPr sz="1200" b="0">
                          <a:solidFill>
                            <a:srgbClr val="1F2937"/>
                          </a:solidFill>
                          <a:latin typeface="Calibri"/>
                        </a:rPr>
                        <a:t>Monthly log difference</a:t>
                      </a:r>
                    </a:p>
                  </a:txBody>
                  <a:tcPr marL="73152" marR="73152" marT="36576" marB="36576" anchor="ctr">
                    <a:solidFill>
                      <a:srgbClr val="F3F4F6"/>
                    </a:solidFill>
                  </a:tcPr>
                </a:tc>
                <a:tc>
                  <a:txBody>
                    <a:bodyPr wrap="square"/>
                    <a:lstStyle/>
                    <a:p>
                      <a:pPr algn="l">
                        <a:lnSpc>
                          <a:spcPct val="110000"/>
                        </a:lnSpc>
                      </a:pPr>
                      <a:r>
                        <a:rPr sz="1200" b="0">
                          <a:solidFill>
                            <a:srgbClr val="1F2937"/>
                          </a:solidFill>
                          <a:latin typeface="Calibri"/>
                        </a:rPr>
                        <a:t>Direct retail fuel layer</a:t>
                      </a:r>
                    </a:p>
                  </a:txBody>
                  <a:tcPr marL="73152" marR="73152" marT="36576" marB="36576" anchor="ctr">
                    <a:solidFill>
                      <a:srgbClr val="F3F4F6"/>
                    </a:solidFill>
                  </a:tcPr>
                </a:tc>
              </a:tr>
              <a:tr h="461772">
                <a:tc>
                  <a:txBody>
                    <a:bodyPr wrap="square"/>
                    <a:lstStyle/>
                    <a:p>
                      <a:pPr algn="l">
                        <a:lnSpc>
                          <a:spcPct val="110000"/>
                        </a:lnSpc>
                      </a:pPr>
                      <a:r>
                        <a:rPr sz="1200" b="0">
                          <a:solidFill>
                            <a:srgbClr val="1F2937"/>
                          </a:solidFill>
                          <a:latin typeface="Calibri"/>
                        </a:rPr>
                        <a:t>CPI Fuel and Light</a:t>
                      </a:r>
                    </a:p>
                  </a:txBody>
                  <a:tcPr marL="73152" marR="73152" marT="36576" marB="36576" anchor="ctr">
                    <a:solidFill>
                      <a:srgbClr val="FFFFFF"/>
                    </a:solidFill>
                  </a:tcPr>
                </a:tc>
                <a:tc>
                  <a:txBody>
                    <a:bodyPr wrap="square"/>
                    <a:lstStyle/>
                    <a:p>
                      <a:pPr algn="l">
                        <a:lnSpc>
                          <a:spcPct val="110000"/>
                        </a:lnSpc>
                      </a:pPr>
                      <a:r>
                        <a:rPr sz="1200" b="0">
                          <a:solidFill>
                            <a:srgbClr val="1F2937"/>
                          </a:solidFill>
                          <a:latin typeface="Calibri"/>
                        </a:rPr>
                        <a:t>MoSPI harmonised series</a:t>
                      </a:r>
                    </a:p>
                  </a:txBody>
                  <a:tcPr marL="73152" marR="73152" marT="36576" marB="36576" anchor="ctr">
                    <a:solidFill>
                      <a:srgbClr val="FFFFFF"/>
                    </a:solidFill>
                  </a:tcPr>
                </a:tc>
                <a:tc>
                  <a:txBody>
                    <a:bodyPr wrap="square"/>
                    <a:lstStyle/>
                    <a:p>
                      <a:pPr algn="l">
                        <a:lnSpc>
                          <a:spcPct val="110000"/>
                        </a:lnSpc>
                      </a:pPr>
                      <a:r>
                        <a:rPr sz="1200" b="0">
                          <a:solidFill>
                            <a:srgbClr val="1F2937"/>
                          </a:solidFill>
                          <a:latin typeface="Calibri"/>
                        </a:rPr>
                        <a:t>Monthly log difference</a:t>
                      </a:r>
                    </a:p>
                  </a:txBody>
                  <a:tcPr marL="73152" marR="73152" marT="36576" marB="36576" anchor="ctr">
                    <a:solidFill>
                      <a:srgbClr val="FFFFFF"/>
                    </a:solidFill>
                  </a:tcPr>
                </a:tc>
                <a:tc>
                  <a:txBody>
                    <a:bodyPr wrap="square"/>
                    <a:lstStyle/>
                    <a:p>
                      <a:pPr algn="l">
                        <a:lnSpc>
                          <a:spcPct val="110000"/>
                        </a:lnSpc>
                      </a:pPr>
                      <a:r>
                        <a:rPr sz="1200" b="0">
                          <a:solidFill>
                            <a:srgbClr val="1F2937"/>
                          </a:solidFill>
                          <a:latin typeface="Calibri"/>
                        </a:rPr>
                        <a:t>Fuel-sensitive consumer bridge</a:t>
                      </a:r>
                    </a:p>
                  </a:txBody>
                  <a:tcPr marL="73152" marR="73152" marT="36576" marB="36576" anchor="ctr">
                    <a:solidFill>
                      <a:srgbClr val="FFFFFF"/>
                    </a:solidFill>
                  </a:tcPr>
                </a:tc>
              </a:tr>
              <a:tr h="461772">
                <a:tc>
                  <a:txBody>
                    <a:bodyPr wrap="square"/>
                    <a:lstStyle/>
                    <a:p>
                      <a:pPr algn="l">
                        <a:lnSpc>
                          <a:spcPct val="110000"/>
                        </a:lnSpc>
                      </a:pPr>
                      <a:r>
                        <a:rPr sz="1200" b="0">
                          <a:solidFill>
                            <a:srgbClr val="1F2937"/>
                          </a:solidFill>
                          <a:latin typeface="Calibri"/>
                        </a:rPr>
                        <a:t>Headline CPI</a:t>
                      </a:r>
                    </a:p>
                  </a:txBody>
                  <a:tcPr marL="73152" marR="73152" marT="36576" marB="36576" anchor="ctr">
                    <a:solidFill>
                      <a:srgbClr val="F3F4F6"/>
                    </a:solidFill>
                  </a:tcPr>
                </a:tc>
                <a:tc>
                  <a:txBody>
                    <a:bodyPr wrap="square"/>
                    <a:lstStyle/>
                    <a:p>
                      <a:pPr algn="l">
                        <a:lnSpc>
                          <a:spcPct val="110000"/>
                        </a:lnSpc>
                      </a:pPr>
                      <a:r>
                        <a:rPr sz="1200" b="0">
                          <a:solidFill>
                            <a:srgbClr val="1F2937"/>
                          </a:solidFill>
                          <a:latin typeface="Calibri"/>
                        </a:rPr>
                        <a:t>MoSPI / FRED CPI source</a:t>
                      </a:r>
                    </a:p>
                  </a:txBody>
                  <a:tcPr marL="73152" marR="73152" marT="36576" marB="36576" anchor="ctr">
                    <a:solidFill>
                      <a:srgbClr val="F3F4F6"/>
                    </a:solidFill>
                  </a:tcPr>
                </a:tc>
                <a:tc>
                  <a:txBody>
                    <a:bodyPr wrap="square"/>
                    <a:lstStyle/>
                    <a:p>
                      <a:pPr algn="l">
                        <a:lnSpc>
                          <a:spcPct val="110000"/>
                        </a:lnSpc>
                      </a:pPr>
                      <a:r>
                        <a:rPr sz="1200" b="0">
                          <a:solidFill>
                            <a:srgbClr val="1F2937"/>
                          </a:solidFill>
                          <a:latin typeface="Calibri"/>
                        </a:rPr>
                        <a:t>Monthly log difference</a:t>
                      </a:r>
                    </a:p>
                  </a:txBody>
                  <a:tcPr marL="73152" marR="73152" marT="36576" marB="36576" anchor="ctr">
                    <a:solidFill>
                      <a:srgbClr val="F3F4F6"/>
                    </a:solidFill>
                  </a:tcPr>
                </a:tc>
                <a:tc>
                  <a:txBody>
                    <a:bodyPr wrap="square"/>
                    <a:lstStyle/>
                    <a:p>
                      <a:pPr algn="l">
                        <a:lnSpc>
                          <a:spcPct val="110000"/>
                        </a:lnSpc>
                      </a:pPr>
                      <a:r>
                        <a:rPr sz="1200" b="0">
                          <a:solidFill>
                            <a:srgbClr val="1F2937"/>
                          </a:solidFill>
                          <a:latin typeface="Calibri"/>
                        </a:rPr>
                        <a:t>Consumer endpoint</a:t>
                      </a:r>
                    </a:p>
                  </a:txBody>
                  <a:tcPr marL="73152" marR="73152" marT="36576" marB="36576" anchor="ctr">
                    <a:solidFill>
                      <a:srgbClr val="F3F4F6"/>
                    </a:solidFill>
                  </a:tcPr>
                </a:tc>
              </a:tr>
              <a:tr h="461772">
                <a:tc>
                  <a:txBody>
                    <a:bodyPr wrap="square"/>
                    <a:lstStyle/>
                    <a:p>
                      <a:pPr algn="l">
                        <a:lnSpc>
                          <a:spcPct val="110000"/>
                        </a:lnSpc>
                      </a:pPr>
                      <a:r>
                        <a:rPr sz="1200" b="0">
                          <a:solidFill>
                            <a:srgbClr val="1F2937"/>
                          </a:solidFill>
                          <a:latin typeface="Calibri"/>
                        </a:rPr>
                        <a:t>IIP</a:t>
                      </a:r>
                    </a:p>
                  </a:txBody>
                  <a:tcPr marL="73152" marR="73152" marT="36576" marB="36576" anchor="ctr">
                    <a:solidFill>
                      <a:srgbClr val="FFFFFF"/>
                    </a:solidFill>
                  </a:tcPr>
                </a:tc>
                <a:tc>
                  <a:txBody>
                    <a:bodyPr wrap="square"/>
                    <a:lstStyle/>
                    <a:p>
                      <a:pPr algn="l">
                        <a:lnSpc>
                          <a:spcPct val="110000"/>
                        </a:lnSpc>
                      </a:pPr>
                      <a:r>
                        <a:rPr sz="1200" b="0">
                          <a:solidFill>
                            <a:srgbClr val="1F2937"/>
                          </a:solidFill>
                          <a:latin typeface="Calibri"/>
                        </a:rPr>
                        <a:t>MoSPI</a:t>
                      </a:r>
                    </a:p>
                  </a:txBody>
                  <a:tcPr marL="73152" marR="73152" marT="36576" marB="36576" anchor="ctr">
                    <a:solidFill>
                      <a:srgbClr val="FFFFFF"/>
                    </a:solidFill>
                  </a:tcPr>
                </a:tc>
                <a:tc>
                  <a:txBody>
                    <a:bodyPr wrap="square"/>
                    <a:lstStyle/>
                    <a:p>
                      <a:pPr algn="l">
                        <a:lnSpc>
                          <a:spcPct val="110000"/>
                        </a:lnSpc>
                      </a:pPr>
                      <a:r>
                        <a:rPr sz="1200" b="0">
                          <a:solidFill>
                            <a:srgbClr val="1F2937"/>
                          </a:solidFill>
                          <a:latin typeface="Calibri"/>
                        </a:rPr>
                        <a:t>Monthly log difference</a:t>
                      </a:r>
                    </a:p>
                  </a:txBody>
                  <a:tcPr marL="73152" marR="73152" marT="36576" marB="36576" anchor="ctr">
                    <a:solidFill>
                      <a:srgbClr val="FFFFFF"/>
                    </a:solidFill>
                  </a:tcPr>
                </a:tc>
                <a:tc>
                  <a:txBody>
                    <a:bodyPr wrap="square"/>
                    <a:lstStyle/>
                    <a:p>
                      <a:pPr algn="l">
                        <a:lnSpc>
                          <a:spcPct val="110000"/>
                        </a:lnSpc>
                      </a:pPr>
                      <a:r>
                        <a:rPr sz="1200" b="0">
                          <a:solidFill>
                            <a:srgbClr val="1F2937"/>
                          </a:solidFill>
                          <a:latin typeface="Calibri"/>
                        </a:rPr>
                        <a:t>Activity control</a:t>
                      </a:r>
                    </a:p>
                  </a:txBody>
                  <a:tcPr marL="73152" marR="73152" marT="36576" marB="36576"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411480"/>
            <a:ext cx="11185855" cy="777240"/>
          </a:xfrm>
          <a:prstGeom prst="rect">
            <a:avLst/>
          </a:prstGeom>
          <a:noFill/>
        </p:spPr>
        <p:txBody>
          <a:bodyPr wrap="square" lIns="45720" rIns="45720" tIns="18288" bIns="18288" anchor="t">
            <a:spAutoFit/>
          </a:bodyPr>
          <a:lstStyle/>
          <a:p>
            <a:pPr algn="l">
              <a:lnSpc>
                <a:spcPct val="115000"/>
              </a:lnSpc>
            </a:pPr>
            <a:r>
              <a:rPr sz="3000" b="1" i="0">
                <a:solidFill>
                  <a:srgbClr val="142A55"/>
                </a:solidFill>
                <a:latin typeface="Calibri"/>
              </a:rPr>
              <a:t>Short-run asymmetric ADL model</a:t>
            </a:r>
          </a:p>
        </p:txBody>
      </p:sp>
      <p:sp>
        <p:nvSpPr>
          <p:cNvPr id="4" name="Rectangle 3"/>
          <p:cNvSpPr/>
          <p:nvPr/>
        </p:nvSpPr>
        <p:spPr>
          <a:xfrm>
            <a:off x="502920" y="1207008"/>
            <a:ext cx="1097280" cy="36576"/>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600200" y="1207008"/>
            <a:ext cx="1008857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02920" y="6400800"/>
            <a:ext cx="11185855"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02920" y="6446520"/>
            <a:ext cx="10271455" cy="292608"/>
          </a:xfrm>
          <a:prstGeom prst="rect">
            <a:avLst/>
          </a:prstGeom>
          <a:noFill/>
        </p:spPr>
        <p:txBody>
          <a:bodyPr wrap="square" lIns="45720" rIns="45720" tIns="18288" bIns="18288" anchor="t">
            <a:spAutoFit/>
          </a:bodyPr>
          <a:lstStyle/>
          <a:p>
            <a:pPr algn="l">
              <a:lnSpc>
                <a:spcPct val="115000"/>
              </a:lnSpc>
            </a:pPr>
            <a:r>
              <a:rPr sz="900" b="0" i="0">
                <a:solidFill>
                  <a:srgbClr val="4B5563"/>
                </a:solidFill>
                <a:latin typeface="Calibri"/>
              </a:rPr>
              <a:t>Layered oil-price pass-through in India  |  Aniket Pandey, B.Tech + MS Economics</a:t>
            </a:r>
          </a:p>
        </p:txBody>
      </p:sp>
      <p:sp>
        <p:nvSpPr>
          <p:cNvPr id="8" name="TextBox 7"/>
          <p:cNvSpPr txBox="1"/>
          <p:nvPr/>
        </p:nvSpPr>
        <p:spPr>
          <a:xfrm>
            <a:off x="10591495" y="6446520"/>
            <a:ext cx="1097280" cy="292608"/>
          </a:xfrm>
          <a:prstGeom prst="rect">
            <a:avLst/>
          </a:prstGeom>
          <a:noFill/>
        </p:spPr>
        <p:txBody>
          <a:bodyPr wrap="square" lIns="45720" rIns="45720" tIns="18288" bIns="18288" anchor="t">
            <a:spAutoFit/>
          </a:bodyPr>
          <a:lstStyle/>
          <a:p>
            <a:pPr algn="r">
              <a:lnSpc>
                <a:spcPct val="115000"/>
              </a:lnSpc>
            </a:pPr>
            <a:r>
              <a:rPr sz="900" b="0" i="0">
                <a:solidFill>
                  <a:srgbClr val="4B5563"/>
                </a:solidFill>
                <a:latin typeface="Calibri"/>
              </a:rPr>
              <a:t>Slide 4 of 11</a:t>
            </a:r>
          </a:p>
        </p:txBody>
      </p:sp>
      <p:sp>
        <p:nvSpPr>
          <p:cNvPr id="9" name="Rounded Rectangle 8"/>
          <p:cNvSpPr/>
          <p:nvPr/>
        </p:nvSpPr>
        <p:spPr>
          <a:xfrm>
            <a:off x="502920" y="1417320"/>
            <a:ext cx="11185855" cy="1188720"/>
          </a:xfrm>
          <a:prstGeom prst="roundRect">
            <a:avLst>
              <a:gd name="adj" fmla="val 8000"/>
            </a:avLst>
          </a:prstGeom>
          <a:solidFill>
            <a:srgbClr val="ECF1F8"/>
          </a:solidFill>
          <a:ln w="12700">
            <a:solidFill>
              <a:srgbClr val="14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27048"/>
            <a:ext cx="10728655" cy="320040"/>
          </a:xfrm>
          <a:prstGeom prst="rect">
            <a:avLst/>
          </a:prstGeom>
          <a:noFill/>
        </p:spPr>
        <p:txBody>
          <a:bodyPr wrap="square" lIns="45720" rIns="45720" tIns="18288" bIns="18288" anchor="t">
            <a:spAutoFit/>
          </a:bodyPr>
          <a:lstStyle/>
          <a:p>
            <a:pPr algn="l">
              <a:lnSpc>
                <a:spcPct val="115000"/>
              </a:lnSpc>
            </a:pPr>
            <a:r>
              <a:rPr sz="1300" b="1" i="0">
                <a:solidFill>
                  <a:srgbClr val="B31B1B"/>
                </a:solidFill>
                <a:latin typeface="Calibri"/>
              </a:rPr>
              <a:t>Estimating equation, by layer</a:t>
            </a:r>
          </a:p>
        </p:txBody>
      </p:sp>
      <p:sp>
        <p:nvSpPr>
          <p:cNvPr id="11" name="TextBox 10"/>
          <p:cNvSpPr txBox="1"/>
          <p:nvPr/>
        </p:nvSpPr>
        <p:spPr>
          <a:xfrm>
            <a:off x="731520" y="1874520"/>
            <a:ext cx="10728655" cy="685800"/>
          </a:xfrm>
          <a:prstGeom prst="rect">
            <a:avLst/>
          </a:prstGeom>
          <a:noFill/>
        </p:spPr>
        <p:txBody>
          <a:bodyPr wrap="square" lIns="45720" rIns="45720" tIns="18288" bIns="18288" anchor="ctr">
            <a:spAutoFit/>
          </a:bodyPr>
          <a:lstStyle/>
          <a:p>
            <a:pPr algn="ctr">
              <a:lnSpc>
                <a:spcPct val="115000"/>
              </a:lnSpc>
            </a:pPr>
            <a:r>
              <a:rPr sz="2200" b="1" i="0">
                <a:solidFill>
                  <a:srgbClr val="0B1B3A"/>
                </a:solidFill>
                <a:latin typeface="Calibri"/>
              </a:rPr>
              <a:t>Δyₜ  =  α  +  Σ φᵢ Δyₜ₋ᵢ  +  Σ βⱼ⁺ Δx⁺ₜ₋ⱼ  +  Σ βⱼ⁻ Δx⁻ₜ₋ⱼ  +  γʹ Zₜ  +  μₘ  +  εₜ</a:t>
            </a:r>
          </a:p>
        </p:txBody>
      </p:sp>
      <p:sp>
        <p:nvSpPr>
          <p:cNvPr id="12" name="Rounded Rectangle 11"/>
          <p:cNvSpPr/>
          <p:nvPr/>
        </p:nvSpPr>
        <p:spPr>
          <a:xfrm>
            <a:off x="502920" y="2880360"/>
            <a:ext cx="5455767" cy="3017520"/>
          </a:xfrm>
          <a:prstGeom prst="roundRect">
            <a:avLst>
              <a:gd name="adj" fmla="val 8000"/>
            </a:avLst>
          </a:prstGeom>
          <a:solidFill>
            <a:srgbClr val="FFFFFF"/>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017520"/>
            <a:ext cx="4998567" cy="365760"/>
          </a:xfrm>
          <a:prstGeom prst="rect">
            <a:avLst/>
          </a:prstGeom>
          <a:noFill/>
        </p:spPr>
        <p:txBody>
          <a:bodyPr wrap="square" lIns="45720" rIns="45720" tIns="18288" bIns="18288" anchor="t">
            <a:spAutoFit/>
          </a:bodyPr>
          <a:lstStyle/>
          <a:p>
            <a:pPr algn="l">
              <a:lnSpc>
                <a:spcPct val="115000"/>
              </a:lnSpc>
            </a:pPr>
            <a:r>
              <a:rPr sz="1600" b="1" i="0">
                <a:solidFill>
                  <a:srgbClr val="142A55"/>
                </a:solidFill>
                <a:latin typeface="Calibri"/>
              </a:rPr>
              <a:t>Model features</a:t>
            </a:r>
          </a:p>
        </p:txBody>
      </p:sp>
      <p:sp>
        <p:nvSpPr>
          <p:cNvPr id="14" name="TextBox 13"/>
          <p:cNvSpPr txBox="1"/>
          <p:nvPr/>
        </p:nvSpPr>
        <p:spPr>
          <a:xfrm>
            <a:off x="731520" y="3429000"/>
            <a:ext cx="4998567" cy="2377440"/>
          </a:xfrm>
          <a:prstGeom prst="rect">
            <a:avLst/>
          </a:prstGeom>
          <a:noFill/>
        </p:spPr>
        <p:txBody>
          <a:bodyPr wrap="square" lIns="45720" rIns="45720" tIns="18288" bIns="18288" anchor="t">
            <a:spAutoFit/>
          </a:bodyPr>
          <a:lstStyle/>
          <a:p>
            <a:pPr algn="l">
              <a:lnSpc>
                <a:spcPct val="118000"/>
              </a:lnSpc>
              <a:spcAft>
                <a:spcPts val="800"/>
              </a:spcAft>
            </a:pPr>
            <a:r>
              <a:rPr sz="1500" b="1" i="0">
                <a:solidFill>
                  <a:srgbClr val="B31B1B"/>
                </a:solidFill>
                <a:latin typeface="Calibri"/>
              </a:rPr>
              <a:t>▪  </a:t>
            </a:r>
            <a:r>
              <a:rPr sz="1500" b="0" i="0">
                <a:solidFill>
                  <a:srgbClr val="1F2937"/>
                </a:solidFill>
                <a:latin typeface="Calibri"/>
              </a:rPr>
              <a:t>Autoregressive — own lagged inflation captures persistence.</a:t>
            </a:r>
          </a:p>
          <a:p>
            <a:pPr algn="l">
              <a:lnSpc>
                <a:spcPct val="118000"/>
              </a:lnSpc>
              <a:spcAft>
                <a:spcPts val="800"/>
              </a:spcAft>
            </a:pPr>
            <a:r>
              <a:rPr sz="1500" b="1" i="0">
                <a:solidFill>
                  <a:srgbClr val="B31B1B"/>
                </a:solidFill>
                <a:latin typeface="Calibri"/>
              </a:rPr>
              <a:t>▪  </a:t>
            </a:r>
            <a:r>
              <a:rPr sz="1500" b="0" i="0">
                <a:solidFill>
                  <a:srgbClr val="1F2937"/>
                </a:solidFill>
                <a:latin typeface="Calibri"/>
              </a:rPr>
              <a:t>Distributed lag — oil enters at lags 0–L.</a:t>
            </a:r>
          </a:p>
          <a:p>
            <a:pPr algn="l">
              <a:lnSpc>
                <a:spcPct val="118000"/>
              </a:lnSpc>
              <a:spcAft>
                <a:spcPts val="800"/>
              </a:spcAft>
            </a:pPr>
            <a:r>
              <a:rPr sz="1500" b="1" i="0">
                <a:solidFill>
                  <a:srgbClr val="B31B1B"/>
                </a:solidFill>
                <a:latin typeface="Calibri"/>
              </a:rPr>
              <a:t>▪  </a:t>
            </a:r>
            <a:r>
              <a:rPr sz="1500" b="0" i="0">
                <a:solidFill>
                  <a:srgbClr val="1F2937"/>
                </a:solidFill>
                <a:latin typeface="Calibri"/>
              </a:rPr>
              <a:t>Asymmetric — positive and negative shocks enter separately.</a:t>
            </a:r>
          </a:p>
          <a:p>
            <a:pPr algn="l">
              <a:lnSpc>
                <a:spcPct val="118000"/>
              </a:lnSpc>
              <a:spcAft>
                <a:spcPts val="800"/>
              </a:spcAft>
            </a:pPr>
            <a:r>
              <a:rPr sz="1500" b="1" i="0">
                <a:solidFill>
                  <a:srgbClr val="B31B1B"/>
                </a:solidFill>
                <a:latin typeface="Calibri"/>
              </a:rPr>
              <a:t>▪  </a:t>
            </a:r>
            <a:r>
              <a:rPr sz="1500" b="0" i="0">
                <a:solidFill>
                  <a:srgbClr val="1F2937"/>
                </a:solidFill>
                <a:latin typeface="Calibri"/>
              </a:rPr>
              <a:t>Short-run focus — monthly changes, no cointegration step.</a:t>
            </a:r>
          </a:p>
          <a:p>
            <a:pPr algn="l">
              <a:lnSpc>
                <a:spcPct val="118000"/>
              </a:lnSpc>
              <a:spcAft>
                <a:spcPts val="800"/>
              </a:spcAft>
            </a:pPr>
            <a:r>
              <a:rPr sz="1500" b="1" i="0">
                <a:solidFill>
                  <a:srgbClr val="B31B1B"/>
                </a:solidFill>
                <a:latin typeface="Calibri"/>
              </a:rPr>
              <a:t>▪  </a:t>
            </a:r>
            <a:r>
              <a:rPr sz="1500" b="0" i="0">
                <a:solidFill>
                  <a:srgbClr val="1F2937"/>
                </a:solidFill>
                <a:latin typeface="Calibri"/>
              </a:rPr>
              <a:t>Controls: IIP for activity, month dummies for seasonality.</a:t>
            </a:r>
          </a:p>
        </p:txBody>
      </p:sp>
      <p:sp>
        <p:nvSpPr>
          <p:cNvPr id="15" name="Rounded Rectangle 14"/>
          <p:cNvSpPr/>
          <p:nvPr/>
        </p:nvSpPr>
        <p:spPr>
          <a:xfrm>
            <a:off x="6233007" y="2880360"/>
            <a:ext cx="5455767" cy="3017520"/>
          </a:xfrm>
          <a:prstGeom prst="roundRect">
            <a:avLst>
              <a:gd name="adj" fmla="val 8000"/>
            </a:avLst>
          </a:prstGeom>
          <a:solidFill>
            <a:srgbClr val="ECF1F8"/>
          </a:solidFill>
          <a:ln w="12700">
            <a:solidFill>
              <a:srgbClr val="14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61607" y="3017520"/>
            <a:ext cx="4998567" cy="365760"/>
          </a:xfrm>
          <a:prstGeom prst="rect">
            <a:avLst/>
          </a:prstGeom>
          <a:noFill/>
        </p:spPr>
        <p:txBody>
          <a:bodyPr wrap="square" lIns="45720" rIns="45720" tIns="18288" bIns="18288" anchor="t">
            <a:spAutoFit/>
          </a:bodyPr>
          <a:lstStyle/>
          <a:p>
            <a:pPr algn="l">
              <a:lnSpc>
                <a:spcPct val="115000"/>
              </a:lnSpc>
            </a:pPr>
            <a:r>
              <a:rPr sz="1600" b="1" i="0">
                <a:solidFill>
                  <a:srgbClr val="142A55"/>
                </a:solidFill>
                <a:latin typeface="Calibri"/>
              </a:rPr>
              <a:t>Reported quantities and inference</a:t>
            </a:r>
          </a:p>
        </p:txBody>
      </p:sp>
      <p:sp>
        <p:nvSpPr>
          <p:cNvPr id="17" name="TextBox 16"/>
          <p:cNvSpPr txBox="1"/>
          <p:nvPr/>
        </p:nvSpPr>
        <p:spPr>
          <a:xfrm>
            <a:off x="6461607" y="3429000"/>
            <a:ext cx="4998567" cy="2377440"/>
          </a:xfrm>
          <a:prstGeom prst="rect">
            <a:avLst/>
          </a:prstGeom>
          <a:noFill/>
        </p:spPr>
        <p:txBody>
          <a:bodyPr wrap="square" lIns="45720" rIns="45720" tIns="18288" bIns="18288" anchor="t">
            <a:spAutoFit/>
          </a:bodyPr>
          <a:lstStyle/>
          <a:p>
            <a:pPr algn="l">
              <a:lnSpc>
                <a:spcPct val="118000"/>
              </a:lnSpc>
              <a:spcAft>
                <a:spcPts val="800"/>
              </a:spcAft>
            </a:pPr>
            <a:r>
              <a:rPr sz="1500" b="1" i="0">
                <a:solidFill>
                  <a:srgbClr val="B31B1B"/>
                </a:solidFill>
                <a:latin typeface="Calibri"/>
              </a:rPr>
              <a:t>  CPT⁺</a:t>
            </a:r>
            <a:r>
              <a:rPr sz="1400" b="0" i="0">
                <a:solidFill>
                  <a:srgbClr val="4B5563"/>
                </a:solidFill>
                <a:latin typeface="Calibri"/>
              </a:rPr>
              <a:t>   —  </a:t>
            </a:r>
            <a:r>
              <a:rPr sz="1400" b="0" i="0">
                <a:solidFill>
                  <a:srgbClr val="1F2937"/>
                </a:solidFill>
                <a:latin typeface="Calibri"/>
              </a:rPr>
              <a:t>sum of positive-shock coefficients across lags</a:t>
            </a:r>
          </a:p>
          <a:p>
            <a:pPr algn="l">
              <a:lnSpc>
                <a:spcPct val="118000"/>
              </a:lnSpc>
              <a:spcAft>
                <a:spcPts val="800"/>
              </a:spcAft>
            </a:pPr>
            <a:r>
              <a:rPr sz="1500" b="1" i="0">
                <a:solidFill>
                  <a:srgbClr val="B31B1B"/>
                </a:solidFill>
                <a:latin typeface="Calibri"/>
              </a:rPr>
              <a:t>  CPT⁻</a:t>
            </a:r>
            <a:r>
              <a:rPr sz="1400" b="0" i="0">
                <a:solidFill>
                  <a:srgbClr val="4B5563"/>
                </a:solidFill>
                <a:latin typeface="Calibri"/>
              </a:rPr>
              <a:t>   —  </a:t>
            </a:r>
            <a:r>
              <a:rPr sz="1400" b="0" i="0">
                <a:solidFill>
                  <a:srgbClr val="1F2937"/>
                </a:solidFill>
                <a:latin typeface="Calibri"/>
              </a:rPr>
              <a:t>sum of negative-shock coefficients across lags</a:t>
            </a:r>
          </a:p>
          <a:p>
            <a:pPr algn="l">
              <a:lnSpc>
                <a:spcPct val="118000"/>
              </a:lnSpc>
              <a:spcAft>
                <a:spcPts val="800"/>
              </a:spcAft>
            </a:pPr>
            <a:r>
              <a:rPr sz="1500" b="1" i="0">
                <a:solidFill>
                  <a:srgbClr val="B31B1B"/>
                </a:solidFill>
                <a:latin typeface="Calibri"/>
              </a:rPr>
              <a:t>  p-values</a:t>
            </a:r>
            <a:r>
              <a:rPr sz="1400" b="0" i="0">
                <a:solidFill>
                  <a:srgbClr val="4B5563"/>
                </a:solidFill>
                <a:latin typeface="Calibri"/>
              </a:rPr>
              <a:t>   —  </a:t>
            </a:r>
            <a:r>
              <a:rPr sz="1400" b="0" i="0">
                <a:solidFill>
                  <a:srgbClr val="1F2937"/>
                </a:solidFill>
                <a:latin typeface="Calibri"/>
              </a:rPr>
              <a:t>tests for CPT⁺, CPT⁻ and CPT⁺ = CPT⁻</a:t>
            </a:r>
          </a:p>
          <a:p>
            <a:pPr algn="l">
              <a:lnSpc>
                <a:spcPct val="118000"/>
              </a:lnSpc>
              <a:spcAft>
                <a:spcPts val="800"/>
              </a:spcAft>
            </a:pPr>
            <a:r>
              <a:rPr sz="1500" b="1" i="0">
                <a:solidFill>
                  <a:srgbClr val="B31B1B"/>
                </a:solidFill>
                <a:latin typeface="Calibri"/>
              </a:rPr>
              <a:t>  Estimation</a:t>
            </a:r>
            <a:r>
              <a:rPr sz="1400" b="0" i="0">
                <a:solidFill>
                  <a:srgbClr val="4B5563"/>
                </a:solidFill>
                <a:latin typeface="Calibri"/>
              </a:rPr>
              <a:t>   —  </a:t>
            </a:r>
            <a:r>
              <a:rPr sz="1400" b="0" i="0">
                <a:solidFill>
                  <a:srgbClr val="1F2937"/>
                </a:solidFill>
                <a:latin typeface="Calibri"/>
              </a:rPr>
              <a:t>OLS</a:t>
            </a:r>
          </a:p>
          <a:p>
            <a:pPr algn="l">
              <a:lnSpc>
                <a:spcPct val="118000"/>
              </a:lnSpc>
              <a:spcAft>
                <a:spcPts val="800"/>
              </a:spcAft>
            </a:pPr>
            <a:r>
              <a:rPr sz="1500" b="1" i="0">
                <a:solidFill>
                  <a:srgbClr val="B31B1B"/>
                </a:solidFill>
                <a:latin typeface="Calibri"/>
              </a:rPr>
              <a:t>  Inference</a:t>
            </a:r>
            <a:r>
              <a:rPr sz="1400" b="0" i="0">
                <a:solidFill>
                  <a:srgbClr val="4B5563"/>
                </a:solidFill>
                <a:latin typeface="Calibri"/>
              </a:rPr>
              <a:t>   —  </a:t>
            </a:r>
            <a:r>
              <a:rPr sz="1400" b="0" i="0">
                <a:solidFill>
                  <a:srgbClr val="1F2937"/>
                </a:solidFill>
                <a:latin typeface="Calibri"/>
              </a:rPr>
              <a:t>Newey–West HAC standard errors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411480"/>
            <a:ext cx="11185855" cy="777240"/>
          </a:xfrm>
          <a:prstGeom prst="rect">
            <a:avLst/>
          </a:prstGeom>
          <a:noFill/>
        </p:spPr>
        <p:txBody>
          <a:bodyPr wrap="square" lIns="45720" rIns="45720" tIns="18288" bIns="18288" anchor="t">
            <a:spAutoFit/>
          </a:bodyPr>
          <a:lstStyle/>
          <a:p>
            <a:pPr algn="l">
              <a:lnSpc>
                <a:spcPct val="115000"/>
              </a:lnSpc>
            </a:pPr>
            <a:r>
              <a:rPr sz="3000" b="1" i="0">
                <a:solidFill>
                  <a:srgbClr val="142A55"/>
                </a:solidFill>
                <a:latin typeface="Calibri"/>
              </a:rPr>
              <a:t>Main result: pass-through weakens across layers</a:t>
            </a:r>
          </a:p>
        </p:txBody>
      </p:sp>
      <p:sp>
        <p:nvSpPr>
          <p:cNvPr id="4" name="Rectangle 3"/>
          <p:cNvSpPr/>
          <p:nvPr/>
        </p:nvSpPr>
        <p:spPr>
          <a:xfrm>
            <a:off x="502920" y="1207008"/>
            <a:ext cx="1097280" cy="36576"/>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600200" y="1207008"/>
            <a:ext cx="1008857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02920" y="6400800"/>
            <a:ext cx="11185855"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02920" y="6446520"/>
            <a:ext cx="10271455" cy="292608"/>
          </a:xfrm>
          <a:prstGeom prst="rect">
            <a:avLst/>
          </a:prstGeom>
          <a:noFill/>
        </p:spPr>
        <p:txBody>
          <a:bodyPr wrap="square" lIns="45720" rIns="45720" tIns="18288" bIns="18288" anchor="t">
            <a:spAutoFit/>
          </a:bodyPr>
          <a:lstStyle/>
          <a:p>
            <a:pPr algn="l">
              <a:lnSpc>
                <a:spcPct val="115000"/>
              </a:lnSpc>
            </a:pPr>
            <a:r>
              <a:rPr sz="900" b="0" i="0">
                <a:solidFill>
                  <a:srgbClr val="4B5563"/>
                </a:solidFill>
                <a:latin typeface="Calibri"/>
              </a:rPr>
              <a:t>Layered oil-price pass-through in India  |  Aniket Pandey, B.Tech + MS Economics</a:t>
            </a:r>
          </a:p>
        </p:txBody>
      </p:sp>
      <p:sp>
        <p:nvSpPr>
          <p:cNvPr id="8" name="TextBox 7"/>
          <p:cNvSpPr txBox="1"/>
          <p:nvPr/>
        </p:nvSpPr>
        <p:spPr>
          <a:xfrm>
            <a:off x="10591495" y="6446520"/>
            <a:ext cx="1097280" cy="292608"/>
          </a:xfrm>
          <a:prstGeom prst="rect">
            <a:avLst/>
          </a:prstGeom>
          <a:noFill/>
        </p:spPr>
        <p:txBody>
          <a:bodyPr wrap="square" lIns="45720" rIns="45720" tIns="18288" bIns="18288" anchor="t">
            <a:spAutoFit/>
          </a:bodyPr>
          <a:lstStyle/>
          <a:p>
            <a:pPr algn="r">
              <a:lnSpc>
                <a:spcPct val="115000"/>
              </a:lnSpc>
            </a:pPr>
            <a:r>
              <a:rPr sz="900" b="0" i="0">
                <a:solidFill>
                  <a:srgbClr val="4B5563"/>
                </a:solidFill>
                <a:latin typeface="Calibri"/>
              </a:rPr>
              <a:t>Slide 5 of 11</a:t>
            </a:r>
          </a:p>
        </p:txBody>
      </p:sp>
      <p:graphicFrame>
        <p:nvGraphicFramePr>
          <p:cNvPr id="9" name="Table 8"/>
          <p:cNvGraphicFramePr>
            <a:graphicFrameLocks noGrp="1"/>
          </p:cNvGraphicFramePr>
          <p:nvPr/>
        </p:nvGraphicFramePr>
        <p:xfrm>
          <a:off x="502920" y="1417320"/>
          <a:ext cx="11185851" cy="2926080"/>
        </p:xfrm>
        <a:graphic>
          <a:graphicData uri="http://schemas.openxmlformats.org/drawingml/2006/table">
            <a:tbl>
              <a:tblPr firstRow="1" bandRow="1">
                <a:tableStyleId>{5C22544A-7EE6-4342-B048-85BDC9FD1C3A}</a:tableStyleId>
              </a:tblPr>
              <a:tblGrid>
                <a:gridCol w="2383870"/>
                <a:gridCol w="2200496"/>
                <a:gridCol w="550124"/>
                <a:gridCol w="916873"/>
                <a:gridCol w="733498"/>
                <a:gridCol w="916873"/>
                <a:gridCol w="733498"/>
                <a:gridCol w="916873"/>
                <a:gridCol w="1833746"/>
              </a:tblGrid>
              <a:tr h="487680">
                <a:tc>
                  <a:txBody>
                    <a:bodyPr wrap="square"/>
                    <a:lstStyle/>
                    <a:p>
                      <a:pPr algn="l">
                        <a:lnSpc>
                          <a:spcPct val="110000"/>
                        </a:lnSpc>
                      </a:pPr>
                      <a:r>
                        <a:rPr sz="1300" b="1">
                          <a:solidFill>
                            <a:srgbClr val="FFFFFF"/>
                          </a:solidFill>
                          <a:latin typeface="Calibri"/>
                        </a:rPr>
                        <a:t>Layer</a:t>
                      </a:r>
                    </a:p>
                  </a:txBody>
                  <a:tcPr marL="73152" marR="73152" marT="36576" marB="36576" anchor="ctr">
                    <a:solidFill>
                      <a:srgbClr val="142A55"/>
                    </a:solidFill>
                  </a:tcPr>
                </a:tc>
                <a:tc>
                  <a:txBody>
                    <a:bodyPr wrap="square"/>
                    <a:lstStyle/>
                    <a:p>
                      <a:pPr algn="ctr">
                        <a:lnSpc>
                          <a:spcPct val="110000"/>
                        </a:lnSpc>
                      </a:pPr>
                      <a:r>
                        <a:rPr sz="1300" b="1">
                          <a:solidFill>
                            <a:srgbClr val="FFFFFF"/>
                          </a:solidFill>
                          <a:latin typeface="Calibri"/>
                        </a:rPr>
                        <a:t>Sample</a:t>
                      </a:r>
                    </a:p>
                  </a:txBody>
                  <a:tcPr marL="73152" marR="73152" marT="36576" marB="36576" anchor="ctr">
                    <a:solidFill>
                      <a:srgbClr val="142A55"/>
                    </a:solidFill>
                  </a:tcPr>
                </a:tc>
                <a:tc>
                  <a:txBody>
                    <a:bodyPr wrap="square"/>
                    <a:lstStyle/>
                    <a:p>
                      <a:pPr algn="ctr">
                        <a:lnSpc>
                          <a:spcPct val="110000"/>
                        </a:lnSpc>
                      </a:pPr>
                      <a:r>
                        <a:rPr sz="1300" b="1">
                          <a:solidFill>
                            <a:srgbClr val="FFFFFF"/>
                          </a:solidFill>
                          <a:latin typeface="Calibri"/>
                        </a:rPr>
                        <a:t>N</a:t>
                      </a:r>
                    </a:p>
                  </a:txBody>
                  <a:tcPr marL="73152" marR="73152" marT="36576" marB="36576" anchor="ctr">
                    <a:solidFill>
                      <a:srgbClr val="142A55"/>
                    </a:solidFill>
                  </a:tcPr>
                </a:tc>
                <a:tc>
                  <a:txBody>
                    <a:bodyPr wrap="square"/>
                    <a:lstStyle/>
                    <a:p>
                      <a:pPr algn="ctr">
                        <a:lnSpc>
                          <a:spcPct val="110000"/>
                        </a:lnSpc>
                      </a:pPr>
                      <a:r>
                        <a:rPr sz="1300" b="1">
                          <a:solidFill>
                            <a:srgbClr val="FFFFFF"/>
                          </a:solidFill>
                          <a:latin typeface="Calibri"/>
                        </a:rPr>
                        <a:t>CPT⁺</a:t>
                      </a:r>
                    </a:p>
                  </a:txBody>
                  <a:tcPr marL="73152" marR="73152" marT="36576" marB="36576" anchor="ctr">
                    <a:solidFill>
                      <a:srgbClr val="142A55"/>
                    </a:solidFill>
                  </a:tcPr>
                </a:tc>
                <a:tc>
                  <a:txBody>
                    <a:bodyPr wrap="square"/>
                    <a:lstStyle/>
                    <a:p>
                      <a:pPr algn="ctr">
                        <a:lnSpc>
                          <a:spcPct val="110000"/>
                        </a:lnSpc>
                      </a:pPr>
                      <a:r>
                        <a:rPr sz="1300" b="1">
                          <a:solidFill>
                            <a:srgbClr val="FFFFFF"/>
                          </a:solidFill>
                          <a:latin typeface="Calibri"/>
                        </a:rPr>
                        <a:t>p</a:t>
                      </a:r>
                    </a:p>
                  </a:txBody>
                  <a:tcPr marL="73152" marR="73152" marT="36576" marB="36576" anchor="ctr">
                    <a:solidFill>
                      <a:srgbClr val="142A55"/>
                    </a:solidFill>
                  </a:tcPr>
                </a:tc>
                <a:tc>
                  <a:txBody>
                    <a:bodyPr wrap="square"/>
                    <a:lstStyle/>
                    <a:p>
                      <a:pPr algn="ctr">
                        <a:lnSpc>
                          <a:spcPct val="110000"/>
                        </a:lnSpc>
                      </a:pPr>
                      <a:r>
                        <a:rPr sz="1300" b="1">
                          <a:solidFill>
                            <a:srgbClr val="FFFFFF"/>
                          </a:solidFill>
                          <a:latin typeface="Calibri"/>
                        </a:rPr>
                        <a:t>CPT⁻</a:t>
                      </a:r>
                    </a:p>
                  </a:txBody>
                  <a:tcPr marL="73152" marR="73152" marT="36576" marB="36576" anchor="ctr">
                    <a:solidFill>
                      <a:srgbClr val="142A55"/>
                    </a:solidFill>
                  </a:tcPr>
                </a:tc>
                <a:tc>
                  <a:txBody>
                    <a:bodyPr wrap="square"/>
                    <a:lstStyle/>
                    <a:p>
                      <a:pPr algn="ctr">
                        <a:lnSpc>
                          <a:spcPct val="110000"/>
                        </a:lnSpc>
                      </a:pPr>
                      <a:r>
                        <a:rPr sz="1300" b="1">
                          <a:solidFill>
                            <a:srgbClr val="FFFFFF"/>
                          </a:solidFill>
                          <a:latin typeface="Calibri"/>
                        </a:rPr>
                        <a:t>p</a:t>
                      </a:r>
                    </a:p>
                  </a:txBody>
                  <a:tcPr marL="73152" marR="73152" marT="36576" marB="36576" anchor="ctr">
                    <a:solidFill>
                      <a:srgbClr val="142A55"/>
                    </a:solidFill>
                  </a:tcPr>
                </a:tc>
                <a:tc>
                  <a:txBody>
                    <a:bodyPr wrap="square"/>
                    <a:lstStyle/>
                    <a:p>
                      <a:pPr algn="ctr">
                        <a:lnSpc>
                          <a:spcPct val="110000"/>
                        </a:lnSpc>
                      </a:pPr>
                      <a:r>
                        <a:rPr sz="1300" b="1">
                          <a:solidFill>
                            <a:srgbClr val="FFFFFF"/>
                          </a:solidFill>
                          <a:latin typeface="Calibri"/>
                        </a:rPr>
                        <a:t>Asym. p</a:t>
                      </a:r>
                    </a:p>
                  </a:txBody>
                  <a:tcPr marL="73152" marR="73152" marT="36576" marB="36576" anchor="ctr">
                    <a:solidFill>
                      <a:srgbClr val="142A55"/>
                    </a:solidFill>
                  </a:tcPr>
                </a:tc>
                <a:tc>
                  <a:txBody>
                    <a:bodyPr wrap="square"/>
                    <a:lstStyle/>
                    <a:p>
                      <a:pPr algn="l">
                        <a:lnSpc>
                          <a:spcPct val="110000"/>
                        </a:lnSpc>
                      </a:pPr>
                      <a:r>
                        <a:rPr sz="1300" b="1">
                          <a:solidFill>
                            <a:srgbClr val="FFFFFF"/>
                          </a:solidFill>
                          <a:latin typeface="Calibri"/>
                        </a:rPr>
                        <a:t>Reading</a:t>
                      </a:r>
                    </a:p>
                  </a:txBody>
                  <a:tcPr marL="73152" marR="73152" marT="36576" marB="36576" anchor="ctr">
                    <a:solidFill>
                      <a:srgbClr val="142A55"/>
                    </a:solidFill>
                  </a:tcPr>
                </a:tc>
              </a:tr>
              <a:tr h="487680">
                <a:tc>
                  <a:txBody>
                    <a:bodyPr wrap="square"/>
                    <a:lstStyle/>
                    <a:p>
                      <a:pPr algn="l">
                        <a:lnSpc>
                          <a:spcPct val="110000"/>
                        </a:lnSpc>
                      </a:pPr>
                      <a:r>
                        <a:rPr sz="1200" b="0">
                          <a:solidFill>
                            <a:srgbClr val="1F2937"/>
                          </a:solidFill>
                          <a:latin typeface="Calibri"/>
                        </a:rPr>
                        <a:t>WPI Fuel and Power</a:t>
                      </a:r>
                    </a:p>
                  </a:txBody>
                  <a:tcPr marL="73152" marR="73152" marT="36576" marB="36576" anchor="ctr">
                    <a:solidFill>
                      <a:srgbClr val="FDECEC"/>
                    </a:solidFill>
                  </a:tcPr>
                </a:tc>
                <a:tc>
                  <a:txBody>
                    <a:bodyPr wrap="square"/>
                    <a:lstStyle/>
                    <a:p>
                      <a:pPr algn="ctr">
                        <a:lnSpc>
                          <a:spcPct val="110000"/>
                        </a:lnSpc>
                      </a:pPr>
                      <a:r>
                        <a:rPr sz="1200" b="0">
                          <a:solidFill>
                            <a:srgbClr val="1F2937"/>
                          </a:solidFill>
                          <a:latin typeface="Calibri"/>
                        </a:rPr>
                        <a:t>2010-04 to 2026-03</a:t>
                      </a:r>
                    </a:p>
                  </a:txBody>
                  <a:tcPr marL="73152" marR="73152" marT="36576" marB="36576" anchor="ctr">
                    <a:solidFill>
                      <a:srgbClr val="FDECEC"/>
                    </a:solidFill>
                  </a:tcPr>
                </a:tc>
                <a:tc>
                  <a:txBody>
                    <a:bodyPr wrap="square"/>
                    <a:lstStyle/>
                    <a:p>
                      <a:pPr algn="ctr">
                        <a:lnSpc>
                          <a:spcPct val="110000"/>
                        </a:lnSpc>
                      </a:pPr>
                      <a:r>
                        <a:rPr sz="1200" b="0">
                          <a:solidFill>
                            <a:srgbClr val="1F2937"/>
                          </a:solidFill>
                          <a:latin typeface="Calibri"/>
                        </a:rPr>
                        <a:t>186</a:t>
                      </a:r>
                    </a:p>
                  </a:txBody>
                  <a:tcPr marL="73152" marR="73152" marT="36576" marB="36576" anchor="ctr">
                    <a:solidFill>
                      <a:srgbClr val="FDECEC"/>
                    </a:solidFill>
                  </a:tcPr>
                </a:tc>
                <a:tc>
                  <a:txBody>
                    <a:bodyPr wrap="square"/>
                    <a:lstStyle/>
                    <a:p>
                      <a:pPr algn="r">
                        <a:lnSpc>
                          <a:spcPct val="110000"/>
                        </a:lnSpc>
                      </a:pPr>
                      <a:r>
                        <a:rPr sz="1200" b="1">
                          <a:solidFill>
                            <a:srgbClr val="B31B1B"/>
                          </a:solidFill>
                          <a:latin typeface="Calibri"/>
                        </a:rPr>
                        <a:t>0.5205</a:t>
                      </a:r>
                    </a:p>
                  </a:txBody>
                  <a:tcPr marL="73152" marR="73152" marT="36576" marB="36576" anchor="ctr">
                    <a:solidFill>
                      <a:srgbClr val="FDECEC"/>
                    </a:solidFill>
                  </a:tcPr>
                </a:tc>
                <a:tc>
                  <a:txBody>
                    <a:bodyPr wrap="square"/>
                    <a:lstStyle/>
                    <a:p>
                      <a:pPr algn="r">
                        <a:lnSpc>
                          <a:spcPct val="110000"/>
                        </a:lnSpc>
                      </a:pPr>
                      <a:r>
                        <a:rPr sz="1200" b="0">
                          <a:solidFill>
                            <a:srgbClr val="B31B1B"/>
                          </a:solidFill>
                          <a:latin typeface="Calibri"/>
                        </a:rPr>
                        <a:t>&lt;0.001</a:t>
                      </a:r>
                    </a:p>
                  </a:txBody>
                  <a:tcPr marL="73152" marR="73152" marT="36576" marB="36576" anchor="ctr">
                    <a:solidFill>
                      <a:srgbClr val="FDECEC"/>
                    </a:solidFill>
                  </a:tcPr>
                </a:tc>
                <a:tc>
                  <a:txBody>
                    <a:bodyPr wrap="square"/>
                    <a:lstStyle/>
                    <a:p>
                      <a:pPr algn="r">
                        <a:lnSpc>
                          <a:spcPct val="110000"/>
                        </a:lnSpc>
                      </a:pPr>
                      <a:r>
                        <a:rPr sz="1200" b="1">
                          <a:solidFill>
                            <a:srgbClr val="B31B1B"/>
                          </a:solidFill>
                          <a:latin typeface="Calibri"/>
                        </a:rPr>
                        <a:t>0.4195</a:t>
                      </a:r>
                    </a:p>
                  </a:txBody>
                  <a:tcPr marL="73152" marR="73152" marT="36576" marB="36576" anchor="ctr">
                    <a:solidFill>
                      <a:srgbClr val="FDECEC"/>
                    </a:solidFill>
                  </a:tcPr>
                </a:tc>
                <a:tc>
                  <a:txBody>
                    <a:bodyPr wrap="square"/>
                    <a:lstStyle/>
                    <a:p>
                      <a:pPr algn="r">
                        <a:lnSpc>
                          <a:spcPct val="110000"/>
                        </a:lnSpc>
                      </a:pPr>
                      <a:r>
                        <a:rPr sz="1200" b="0">
                          <a:solidFill>
                            <a:srgbClr val="B31B1B"/>
                          </a:solidFill>
                          <a:latin typeface="Calibri"/>
                        </a:rPr>
                        <a:t>&lt;0.001</a:t>
                      </a:r>
                    </a:p>
                  </a:txBody>
                  <a:tcPr marL="73152" marR="73152" marT="36576" marB="36576" anchor="ctr">
                    <a:solidFill>
                      <a:srgbClr val="FDECEC"/>
                    </a:solidFill>
                  </a:tcPr>
                </a:tc>
                <a:tc>
                  <a:txBody>
                    <a:bodyPr wrap="square"/>
                    <a:lstStyle/>
                    <a:p>
                      <a:pPr algn="r">
                        <a:lnSpc>
                          <a:spcPct val="110000"/>
                        </a:lnSpc>
                      </a:pPr>
                      <a:r>
                        <a:rPr sz="1200" b="0">
                          <a:solidFill>
                            <a:srgbClr val="1F2937"/>
                          </a:solidFill>
                          <a:latin typeface="Calibri"/>
                        </a:rPr>
                        <a:t>0.1642</a:t>
                      </a:r>
                    </a:p>
                  </a:txBody>
                  <a:tcPr marL="73152" marR="73152" marT="36576" marB="36576" anchor="ctr">
                    <a:solidFill>
                      <a:srgbClr val="FDECEC"/>
                    </a:solidFill>
                  </a:tcPr>
                </a:tc>
                <a:tc>
                  <a:txBody>
                    <a:bodyPr wrap="square"/>
                    <a:lstStyle/>
                    <a:p>
                      <a:pPr algn="l">
                        <a:lnSpc>
                          <a:spcPct val="110000"/>
                        </a:lnSpc>
                      </a:pPr>
                      <a:r>
                        <a:rPr sz="1200" b="1">
                          <a:solidFill>
                            <a:srgbClr val="B31B1B"/>
                          </a:solidFill>
                          <a:latin typeface="Calibri"/>
                        </a:rPr>
                        <a:t>Strong wholesale fuel</a:t>
                      </a:r>
                    </a:p>
                  </a:txBody>
                  <a:tcPr marL="73152" marR="73152" marT="36576" marB="36576" anchor="ctr">
                    <a:solidFill>
                      <a:srgbClr val="FDECEC"/>
                    </a:solidFill>
                  </a:tcPr>
                </a:tc>
              </a:tr>
              <a:tr h="487680">
                <a:tc>
                  <a:txBody>
                    <a:bodyPr wrap="square"/>
                    <a:lstStyle/>
                    <a:p>
                      <a:pPr algn="l">
                        <a:lnSpc>
                          <a:spcPct val="110000"/>
                        </a:lnSpc>
                      </a:pPr>
                      <a:r>
                        <a:rPr sz="1200" b="0">
                          <a:solidFill>
                            <a:srgbClr val="1F2937"/>
                          </a:solidFill>
                          <a:latin typeface="Calibri"/>
                        </a:rPr>
                        <a:t>PPAC retail petrol</a:t>
                      </a:r>
                    </a:p>
                  </a:txBody>
                  <a:tcPr marL="73152" marR="73152" marT="36576" marB="36576" anchor="ctr">
                    <a:solidFill>
                      <a:srgbClr val="FDECEC"/>
                    </a:solidFill>
                  </a:tcPr>
                </a:tc>
                <a:tc>
                  <a:txBody>
                    <a:bodyPr wrap="square"/>
                    <a:lstStyle/>
                    <a:p>
                      <a:pPr algn="ctr">
                        <a:lnSpc>
                          <a:spcPct val="110000"/>
                        </a:lnSpc>
                      </a:pPr>
                      <a:r>
                        <a:rPr sz="1200" b="0">
                          <a:solidFill>
                            <a:srgbClr val="1F2937"/>
                          </a:solidFill>
                          <a:latin typeface="Calibri"/>
                        </a:rPr>
                        <a:t>2004-08 to 2024-12</a:t>
                      </a:r>
                    </a:p>
                  </a:txBody>
                  <a:tcPr marL="73152" marR="73152" marT="36576" marB="36576" anchor="ctr">
                    <a:solidFill>
                      <a:srgbClr val="FDECEC"/>
                    </a:solidFill>
                  </a:tcPr>
                </a:tc>
                <a:tc>
                  <a:txBody>
                    <a:bodyPr wrap="square"/>
                    <a:lstStyle/>
                    <a:p>
                      <a:pPr algn="ctr">
                        <a:lnSpc>
                          <a:spcPct val="110000"/>
                        </a:lnSpc>
                      </a:pPr>
                      <a:r>
                        <a:rPr sz="1200" b="0">
                          <a:solidFill>
                            <a:srgbClr val="1F2937"/>
                          </a:solidFill>
                          <a:latin typeface="Calibri"/>
                        </a:rPr>
                        <a:t>245</a:t>
                      </a:r>
                    </a:p>
                  </a:txBody>
                  <a:tcPr marL="73152" marR="73152" marT="36576" marB="36576" anchor="ctr">
                    <a:solidFill>
                      <a:srgbClr val="FDECEC"/>
                    </a:solidFill>
                  </a:tcPr>
                </a:tc>
                <a:tc>
                  <a:txBody>
                    <a:bodyPr wrap="square"/>
                    <a:lstStyle/>
                    <a:p>
                      <a:pPr algn="r">
                        <a:lnSpc>
                          <a:spcPct val="110000"/>
                        </a:lnSpc>
                      </a:pPr>
                      <a:r>
                        <a:rPr sz="1200" b="1">
                          <a:solidFill>
                            <a:srgbClr val="B31B1B"/>
                          </a:solidFill>
                          <a:latin typeface="Calibri"/>
                        </a:rPr>
                        <a:t>0.3459</a:t>
                      </a:r>
                    </a:p>
                  </a:txBody>
                  <a:tcPr marL="73152" marR="73152" marT="36576" marB="36576" anchor="ctr">
                    <a:solidFill>
                      <a:srgbClr val="FDECEC"/>
                    </a:solidFill>
                  </a:tcPr>
                </a:tc>
                <a:tc>
                  <a:txBody>
                    <a:bodyPr wrap="square"/>
                    <a:lstStyle/>
                    <a:p>
                      <a:pPr algn="r">
                        <a:lnSpc>
                          <a:spcPct val="110000"/>
                        </a:lnSpc>
                      </a:pPr>
                      <a:r>
                        <a:rPr sz="1200" b="0">
                          <a:solidFill>
                            <a:srgbClr val="B31B1B"/>
                          </a:solidFill>
                          <a:latin typeface="Calibri"/>
                        </a:rPr>
                        <a:t>&lt;0.001</a:t>
                      </a:r>
                    </a:p>
                  </a:txBody>
                  <a:tcPr marL="73152" marR="73152" marT="36576" marB="36576" anchor="ctr">
                    <a:solidFill>
                      <a:srgbClr val="FDECEC"/>
                    </a:solidFill>
                  </a:tcPr>
                </a:tc>
                <a:tc>
                  <a:txBody>
                    <a:bodyPr wrap="square"/>
                    <a:lstStyle/>
                    <a:p>
                      <a:pPr algn="r">
                        <a:lnSpc>
                          <a:spcPct val="110000"/>
                        </a:lnSpc>
                      </a:pPr>
                      <a:r>
                        <a:rPr sz="1200" b="1">
                          <a:solidFill>
                            <a:srgbClr val="B31B1B"/>
                          </a:solidFill>
                          <a:latin typeface="Calibri"/>
                        </a:rPr>
                        <a:t>0.1912</a:t>
                      </a:r>
                    </a:p>
                  </a:txBody>
                  <a:tcPr marL="73152" marR="73152" marT="36576" marB="36576" anchor="ctr">
                    <a:solidFill>
                      <a:srgbClr val="FDECEC"/>
                    </a:solidFill>
                  </a:tcPr>
                </a:tc>
                <a:tc>
                  <a:txBody>
                    <a:bodyPr wrap="square"/>
                    <a:lstStyle/>
                    <a:p>
                      <a:pPr algn="r">
                        <a:lnSpc>
                          <a:spcPct val="110000"/>
                        </a:lnSpc>
                      </a:pPr>
                      <a:r>
                        <a:rPr sz="1200" b="0">
                          <a:solidFill>
                            <a:srgbClr val="B31B1B"/>
                          </a:solidFill>
                          <a:latin typeface="Calibri"/>
                        </a:rPr>
                        <a:t>0.0002</a:t>
                      </a:r>
                    </a:p>
                  </a:txBody>
                  <a:tcPr marL="73152" marR="73152" marT="36576" marB="36576" anchor="ctr">
                    <a:solidFill>
                      <a:srgbClr val="FDECEC"/>
                    </a:solidFill>
                  </a:tcPr>
                </a:tc>
                <a:tc>
                  <a:txBody>
                    <a:bodyPr wrap="square"/>
                    <a:lstStyle/>
                    <a:p>
                      <a:pPr algn="r">
                        <a:lnSpc>
                          <a:spcPct val="110000"/>
                        </a:lnSpc>
                      </a:pPr>
                      <a:r>
                        <a:rPr sz="1200" b="0">
                          <a:solidFill>
                            <a:srgbClr val="1F2937"/>
                          </a:solidFill>
                          <a:latin typeface="Calibri"/>
                        </a:rPr>
                        <a:t>0.0999</a:t>
                      </a:r>
                    </a:p>
                  </a:txBody>
                  <a:tcPr marL="73152" marR="73152" marT="36576" marB="36576" anchor="ctr">
                    <a:solidFill>
                      <a:srgbClr val="FDECEC"/>
                    </a:solidFill>
                  </a:tcPr>
                </a:tc>
                <a:tc>
                  <a:txBody>
                    <a:bodyPr wrap="square"/>
                    <a:lstStyle/>
                    <a:p>
                      <a:pPr algn="l">
                        <a:lnSpc>
                          <a:spcPct val="110000"/>
                        </a:lnSpc>
                      </a:pPr>
                      <a:r>
                        <a:rPr sz="1200" b="1">
                          <a:solidFill>
                            <a:srgbClr val="B31B1B"/>
                          </a:solidFill>
                          <a:latin typeface="Calibri"/>
                        </a:rPr>
                        <a:t>Strong direct fuel</a:t>
                      </a:r>
                    </a:p>
                  </a:txBody>
                  <a:tcPr marL="73152" marR="73152" marT="36576" marB="36576" anchor="ctr">
                    <a:solidFill>
                      <a:srgbClr val="FDECEC"/>
                    </a:solidFill>
                  </a:tcPr>
                </a:tc>
              </a:tr>
              <a:tr h="487680">
                <a:tc>
                  <a:txBody>
                    <a:bodyPr wrap="square"/>
                    <a:lstStyle/>
                    <a:p>
                      <a:pPr algn="l">
                        <a:lnSpc>
                          <a:spcPct val="110000"/>
                        </a:lnSpc>
                      </a:pPr>
                      <a:r>
                        <a:rPr sz="1200" b="0">
                          <a:solidFill>
                            <a:srgbClr val="1F2937"/>
                          </a:solidFill>
                          <a:latin typeface="Calibri"/>
                        </a:rPr>
                        <a:t>CPI Fuel and Light</a:t>
                      </a:r>
                    </a:p>
                  </a:txBody>
                  <a:tcPr marL="73152" marR="73152" marT="36576" marB="36576" anchor="ctr">
                    <a:solidFill>
                      <a:srgbClr val="FFFFFF"/>
                    </a:solidFill>
                  </a:tcPr>
                </a:tc>
                <a:tc>
                  <a:txBody>
                    <a:bodyPr wrap="square"/>
                    <a:lstStyle/>
                    <a:p>
                      <a:pPr algn="ctr">
                        <a:lnSpc>
                          <a:spcPct val="110000"/>
                        </a:lnSpc>
                      </a:pPr>
                      <a:r>
                        <a:rPr sz="1200" b="0">
                          <a:solidFill>
                            <a:srgbClr val="1F2937"/>
                          </a:solidFill>
                          <a:latin typeface="Calibri"/>
                        </a:rPr>
                        <a:t>2011-05 to 2024-12</a:t>
                      </a:r>
                    </a:p>
                  </a:txBody>
                  <a:tcPr marL="73152" marR="73152" marT="36576" marB="36576" anchor="ctr">
                    <a:solidFill>
                      <a:srgbClr val="FFFFFF"/>
                    </a:solidFill>
                  </a:tcPr>
                </a:tc>
                <a:tc>
                  <a:txBody>
                    <a:bodyPr wrap="square"/>
                    <a:lstStyle/>
                    <a:p>
                      <a:pPr algn="ctr">
                        <a:lnSpc>
                          <a:spcPct val="110000"/>
                        </a:lnSpc>
                      </a:pPr>
                      <a:r>
                        <a:rPr sz="1200" b="0">
                          <a:solidFill>
                            <a:srgbClr val="1F2937"/>
                          </a:solidFill>
                          <a:latin typeface="Calibri"/>
                        </a:rPr>
                        <a:t>164</a:t>
                      </a:r>
                    </a:p>
                  </a:txBody>
                  <a:tcPr marL="73152" marR="73152" marT="36576" marB="36576" anchor="ctr">
                    <a:solidFill>
                      <a:srgbClr val="FFFFFF"/>
                    </a:solidFill>
                  </a:tcPr>
                </a:tc>
                <a:tc>
                  <a:txBody>
                    <a:bodyPr wrap="square"/>
                    <a:lstStyle/>
                    <a:p>
                      <a:pPr algn="r">
                        <a:lnSpc>
                          <a:spcPct val="110000"/>
                        </a:lnSpc>
                      </a:pPr>
                      <a:r>
                        <a:rPr sz="1200" b="1">
                          <a:solidFill>
                            <a:srgbClr val="C2760C"/>
                          </a:solidFill>
                          <a:latin typeface="Calibri"/>
                        </a:rPr>
                        <a:t>0.1777</a:t>
                      </a:r>
                    </a:p>
                  </a:txBody>
                  <a:tcPr marL="73152" marR="73152" marT="36576" marB="36576" anchor="ctr">
                    <a:solidFill>
                      <a:srgbClr val="FFFFFF"/>
                    </a:solidFill>
                  </a:tcPr>
                </a:tc>
                <a:tc>
                  <a:txBody>
                    <a:bodyPr wrap="square"/>
                    <a:lstStyle/>
                    <a:p>
                      <a:pPr algn="r">
                        <a:lnSpc>
                          <a:spcPct val="110000"/>
                        </a:lnSpc>
                      </a:pPr>
                      <a:r>
                        <a:rPr sz="1200" b="0">
                          <a:solidFill>
                            <a:srgbClr val="C2760C"/>
                          </a:solidFill>
                          <a:latin typeface="Calibri"/>
                        </a:rPr>
                        <a:t>0.0021</a:t>
                      </a:r>
                    </a:p>
                  </a:txBody>
                  <a:tcPr marL="73152" marR="73152" marT="36576" marB="36576" anchor="ctr">
                    <a:solidFill>
                      <a:srgbClr val="FFFFFF"/>
                    </a:solidFill>
                  </a:tcPr>
                </a:tc>
                <a:tc>
                  <a:txBody>
                    <a:bodyPr wrap="square"/>
                    <a:lstStyle/>
                    <a:p>
                      <a:pPr algn="r">
                        <a:lnSpc>
                          <a:spcPct val="110000"/>
                        </a:lnSpc>
                      </a:pPr>
                      <a:r>
                        <a:rPr sz="1200" b="0">
                          <a:solidFill>
                            <a:srgbClr val="1F2937"/>
                          </a:solidFill>
                          <a:latin typeface="Calibri"/>
                        </a:rPr>
                        <a:t>0.1058</a:t>
                      </a:r>
                    </a:p>
                  </a:txBody>
                  <a:tcPr marL="73152" marR="73152" marT="36576" marB="36576" anchor="ctr">
                    <a:solidFill>
                      <a:srgbClr val="FFFFFF"/>
                    </a:solidFill>
                  </a:tcPr>
                </a:tc>
                <a:tc>
                  <a:txBody>
                    <a:bodyPr wrap="square"/>
                    <a:lstStyle/>
                    <a:p>
                      <a:pPr algn="r">
                        <a:lnSpc>
                          <a:spcPct val="110000"/>
                        </a:lnSpc>
                      </a:pPr>
                      <a:r>
                        <a:rPr sz="1200" b="0">
                          <a:solidFill>
                            <a:srgbClr val="1F2937"/>
                          </a:solidFill>
                          <a:latin typeface="Calibri"/>
                        </a:rPr>
                        <a:t>0.1741</a:t>
                      </a:r>
                    </a:p>
                  </a:txBody>
                  <a:tcPr marL="73152" marR="73152" marT="36576" marB="36576" anchor="ctr">
                    <a:solidFill>
                      <a:srgbClr val="FFFFFF"/>
                    </a:solidFill>
                  </a:tcPr>
                </a:tc>
                <a:tc>
                  <a:txBody>
                    <a:bodyPr wrap="square"/>
                    <a:lstStyle/>
                    <a:p>
                      <a:pPr algn="r">
                        <a:lnSpc>
                          <a:spcPct val="110000"/>
                        </a:lnSpc>
                      </a:pPr>
                      <a:r>
                        <a:rPr sz="1200" b="0">
                          <a:solidFill>
                            <a:srgbClr val="1F2937"/>
                          </a:solidFill>
                          <a:latin typeface="Calibri"/>
                        </a:rPr>
                        <a:t>0.4554</a:t>
                      </a:r>
                    </a:p>
                  </a:txBody>
                  <a:tcPr marL="73152" marR="73152" marT="36576" marB="36576" anchor="ctr">
                    <a:solidFill>
                      <a:srgbClr val="FFFFFF"/>
                    </a:solidFill>
                  </a:tcPr>
                </a:tc>
                <a:tc>
                  <a:txBody>
                    <a:bodyPr wrap="square"/>
                    <a:lstStyle/>
                    <a:p>
                      <a:pPr algn="l">
                        <a:lnSpc>
                          <a:spcPct val="110000"/>
                        </a:lnSpc>
                      </a:pPr>
                      <a:r>
                        <a:rPr sz="1200" b="1">
                          <a:solidFill>
                            <a:srgbClr val="C2760C"/>
                          </a:solidFill>
                          <a:latin typeface="Calibri"/>
                        </a:rPr>
                        <a:t>Bridge evidence</a:t>
                      </a:r>
                    </a:p>
                  </a:txBody>
                  <a:tcPr marL="73152" marR="73152" marT="36576" marB="36576" anchor="ctr">
                    <a:solidFill>
                      <a:srgbClr val="FFFFFF"/>
                    </a:solidFill>
                  </a:tcPr>
                </a:tc>
              </a:tr>
              <a:tr h="487680">
                <a:tc>
                  <a:txBody>
                    <a:bodyPr wrap="square"/>
                    <a:lstStyle/>
                    <a:p>
                      <a:pPr algn="l">
                        <a:lnSpc>
                          <a:spcPct val="110000"/>
                        </a:lnSpc>
                      </a:pPr>
                      <a:r>
                        <a:rPr sz="1200" b="0">
                          <a:solidFill>
                            <a:srgbClr val="1F2937"/>
                          </a:solidFill>
                          <a:latin typeface="Calibri"/>
                        </a:rPr>
                        <a:t>Headline WPI</a:t>
                      </a:r>
                    </a:p>
                  </a:txBody>
                  <a:tcPr marL="73152" marR="73152" marT="36576" marB="36576" anchor="ctr">
                    <a:solidFill>
                      <a:srgbClr val="F3F4F6"/>
                    </a:solidFill>
                  </a:tcPr>
                </a:tc>
                <a:tc>
                  <a:txBody>
                    <a:bodyPr wrap="square"/>
                    <a:lstStyle/>
                    <a:p>
                      <a:pPr algn="ctr">
                        <a:lnSpc>
                          <a:spcPct val="110000"/>
                        </a:lnSpc>
                      </a:pPr>
                      <a:r>
                        <a:rPr sz="1200" b="0">
                          <a:solidFill>
                            <a:srgbClr val="1F2937"/>
                          </a:solidFill>
                          <a:latin typeface="Calibri"/>
                        </a:rPr>
                        <a:t>1983-05 to 2026-03</a:t>
                      </a:r>
                    </a:p>
                  </a:txBody>
                  <a:tcPr marL="73152" marR="73152" marT="36576" marB="36576" anchor="ctr">
                    <a:solidFill>
                      <a:srgbClr val="F3F4F6"/>
                    </a:solidFill>
                  </a:tcPr>
                </a:tc>
                <a:tc>
                  <a:txBody>
                    <a:bodyPr wrap="square"/>
                    <a:lstStyle/>
                    <a:p>
                      <a:pPr algn="ctr">
                        <a:lnSpc>
                          <a:spcPct val="110000"/>
                        </a:lnSpc>
                      </a:pPr>
                      <a:r>
                        <a:rPr sz="1200" b="0">
                          <a:solidFill>
                            <a:srgbClr val="1F2937"/>
                          </a:solidFill>
                          <a:latin typeface="Calibri"/>
                        </a:rPr>
                        <a:t>515</a:t>
                      </a:r>
                    </a:p>
                  </a:txBody>
                  <a:tcPr marL="73152" marR="73152" marT="36576" marB="36576" anchor="ctr">
                    <a:solidFill>
                      <a:srgbClr val="F3F4F6"/>
                    </a:solidFill>
                  </a:tcPr>
                </a:tc>
                <a:tc>
                  <a:txBody>
                    <a:bodyPr wrap="square"/>
                    <a:lstStyle/>
                    <a:p>
                      <a:pPr algn="r">
                        <a:lnSpc>
                          <a:spcPct val="110000"/>
                        </a:lnSpc>
                      </a:pPr>
                      <a:r>
                        <a:rPr sz="1200" b="1">
                          <a:solidFill>
                            <a:srgbClr val="475569"/>
                          </a:solidFill>
                          <a:latin typeface="Calibri"/>
                        </a:rPr>
                        <a:t>0.0301</a:t>
                      </a:r>
                    </a:p>
                  </a:txBody>
                  <a:tcPr marL="73152" marR="73152" marT="36576" marB="36576" anchor="ctr">
                    <a:solidFill>
                      <a:srgbClr val="F3F4F6"/>
                    </a:solidFill>
                  </a:tcPr>
                </a:tc>
                <a:tc>
                  <a:txBody>
                    <a:bodyPr wrap="square"/>
                    <a:lstStyle/>
                    <a:p>
                      <a:pPr algn="r">
                        <a:lnSpc>
                          <a:spcPct val="110000"/>
                        </a:lnSpc>
                      </a:pPr>
                      <a:r>
                        <a:rPr sz="1200" b="0">
                          <a:solidFill>
                            <a:srgbClr val="475569"/>
                          </a:solidFill>
                          <a:latin typeface="Calibri"/>
                        </a:rPr>
                        <a:t>0.0240</a:t>
                      </a:r>
                    </a:p>
                  </a:txBody>
                  <a:tcPr marL="73152" marR="73152" marT="36576" marB="36576" anchor="ctr">
                    <a:solidFill>
                      <a:srgbClr val="F3F4F6"/>
                    </a:solidFill>
                  </a:tcPr>
                </a:tc>
                <a:tc>
                  <a:txBody>
                    <a:bodyPr wrap="square"/>
                    <a:lstStyle/>
                    <a:p>
                      <a:pPr algn="r">
                        <a:lnSpc>
                          <a:spcPct val="110000"/>
                        </a:lnSpc>
                      </a:pPr>
                      <a:r>
                        <a:rPr sz="1200" b="1">
                          <a:solidFill>
                            <a:srgbClr val="475569"/>
                          </a:solidFill>
                          <a:latin typeface="Calibri"/>
                        </a:rPr>
                        <a:t>0.0374</a:t>
                      </a:r>
                    </a:p>
                  </a:txBody>
                  <a:tcPr marL="73152" marR="73152" marT="36576" marB="36576" anchor="ctr">
                    <a:solidFill>
                      <a:srgbClr val="F3F4F6"/>
                    </a:solidFill>
                  </a:tcPr>
                </a:tc>
                <a:tc>
                  <a:txBody>
                    <a:bodyPr wrap="square"/>
                    <a:lstStyle/>
                    <a:p>
                      <a:pPr algn="r">
                        <a:lnSpc>
                          <a:spcPct val="110000"/>
                        </a:lnSpc>
                      </a:pPr>
                      <a:r>
                        <a:rPr sz="1200" b="0">
                          <a:solidFill>
                            <a:srgbClr val="475569"/>
                          </a:solidFill>
                          <a:latin typeface="Calibri"/>
                        </a:rPr>
                        <a:t>0.0012</a:t>
                      </a:r>
                    </a:p>
                  </a:txBody>
                  <a:tcPr marL="73152" marR="73152" marT="36576" marB="36576" anchor="ctr">
                    <a:solidFill>
                      <a:srgbClr val="F3F4F6"/>
                    </a:solidFill>
                  </a:tcPr>
                </a:tc>
                <a:tc>
                  <a:txBody>
                    <a:bodyPr wrap="square"/>
                    <a:lstStyle/>
                    <a:p>
                      <a:pPr algn="r">
                        <a:lnSpc>
                          <a:spcPct val="110000"/>
                        </a:lnSpc>
                      </a:pPr>
                      <a:r>
                        <a:rPr sz="1200" b="0">
                          <a:solidFill>
                            <a:srgbClr val="1F2937"/>
                          </a:solidFill>
                          <a:latin typeface="Calibri"/>
                        </a:rPr>
                        <a:t>0.6727</a:t>
                      </a:r>
                    </a:p>
                  </a:txBody>
                  <a:tcPr marL="73152" marR="73152" marT="36576" marB="36576" anchor="ctr">
                    <a:solidFill>
                      <a:srgbClr val="F3F4F6"/>
                    </a:solidFill>
                  </a:tcPr>
                </a:tc>
                <a:tc>
                  <a:txBody>
                    <a:bodyPr wrap="square"/>
                    <a:lstStyle/>
                    <a:p>
                      <a:pPr algn="l">
                        <a:lnSpc>
                          <a:spcPct val="110000"/>
                        </a:lnSpc>
                      </a:pPr>
                      <a:r>
                        <a:rPr sz="1200" b="1">
                          <a:solidFill>
                            <a:srgbClr val="475569"/>
                          </a:solidFill>
                          <a:latin typeface="Calibri"/>
                        </a:rPr>
                        <a:t>Modest but significant</a:t>
                      </a:r>
                    </a:p>
                  </a:txBody>
                  <a:tcPr marL="73152" marR="73152" marT="36576" marB="36576" anchor="ctr">
                    <a:solidFill>
                      <a:srgbClr val="F3F4F6"/>
                    </a:solidFill>
                  </a:tcPr>
                </a:tc>
              </a:tr>
              <a:tr h="487680">
                <a:tc>
                  <a:txBody>
                    <a:bodyPr wrap="square"/>
                    <a:lstStyle/>
                    <a:p>
                      <a:pPr algn="l">
                        <a:lnSpc>
                          <a:spcPct val="110000"/>
                        </a:lnSpc>
                      </a:pPr>
                      <a:r>
                        <a:rPr sz="1200" b="0">
                          <a:solidFill>
                            <a:srgbClr val="1F2937"/>
                          </a:solidFill>
                          <a:latin typeface="Calibri"/>
                        </a:rPr>
                        <a:t>Headline CPI</a:t>
                      </a:r>
                    </a:p>
                  </a:txBody>
                  <a:tcPr marL="73152" marR="73152" marT="36576" marB="36576" anchor="ctr">
                    <a:solidFill>
                      <a:srgbClr val="FDECEC"/>
                    </a:solidFill>
                  </a:tcPr>
                </a:tc>
                <a:tc>
                  <a:txBody>
                    <a:bodyPr wrap="square"/>
                    <a:lstStyle/>
                    <a:p>
                      <a:pPr algn="ctr">
                        <a:lnSpc>
                          <a:spcPct val="110000"/>
                        </a:lnSpc>
                      </a:pPr>
                      <a:r>
                        <a:rPr sz="1200" b="0">
                          <a:solidFill>
                            <a:srgbClr val="1F2937"/>
                          </a:solidFill>
                          <a:latin typeface="Calibri"/>
                        </a:rPr>
                        <a:t>2004-08 to 2024-12</a:t>
                      </a:r>
                    </a:p>
                  </a:txBody>
                  <a:tcPr marL="73152" marR="73152" marT="36576" marB="36576" anchor="ctr">
                    <a:solidFill>
                      <a:srgbClr val="FDECEC"/>
                    </a:solidFill>
                  </a:tcPr>
                </a:tc>
                <a:tc>
                  <a:txBody>
                    <a:bodyPr wrap="square"/>
                    <a:lstStyle/>
                    <a:p>
                      <a:pPr algn="ctr">
                        <a:lnSpc>
                          <a:spcPct val="110000"/>
                        </a:lnSpc>
                      </a:pPr>
                      <a:r>
                        <a:rPr sz="1200" b="0">
                          <a:solidFill>
                            <a:srgbClr val="1F2937"/>
                          </a:solidFill>
                          <a:latin typeface="Calibri"/>
                        </a:rPr>
                        <a:t>245</a:t>
                      </a:r>
                    </a:p>
                  </a:txBody>
                  <a:tcPr marL="73152" marR="73152" marT="36576" marB="36576" anchor="ctr">
                    <a:solidFill>
                      <a:srgbClr val="FDECEC"/>
                    </a:solidFill>
                  </a:tcPr>
                </a:tc>
                <a:tc>
                  <a:txBody>
                    <a:bodyPr wrap="square"/>
                    <a:lstStyle/>
                    <a:p>
                      <a:pPr algn="r">
                        <a:lnSpc>
                          <a:spcPct val="110000"/>
                        </a:lnSpc>
                      </a:pPr>
                      <a:r>
                        <a:rPr sz="1200" b="1">
                          <a:solidFill>
                            <a:srgbClr val="475569"/>
                          </a:solidFill>
                          <a:latin typeface="Calibri"/>
                        </a:rPr>
                        <a:t>0.0213</a:t>
                      </a:r>
                    </a:p>
                  </a:txBody>
                  <a:tcPr marL="73152" marR="73152" marT="36576" marB="36576" anchor="ctr">
                    <a:solidFill>
                      <a:srgbClr val="FDECEC"/>
                    </a:solidFill>
                  </a:tcPr>
                </a:tc>
                <a:tc>
                  <a:txBody>
                    <a:bodyPr wrap="square"/>
                    <a:lstStyle/>
                    <a:p>
                      <a:pPr algn="r">
                        <a:lnSpc>
                          <a:spcPct val="110000"/>
                        </a:lnSpc>
                      </a:pPr>
                      <a:r>
                        <a:rPr sz="1200" b="0">
                          <a:solidFill>
                            <a:srgbClr val="475569"/>
                          </a:solidFill>
                          <a:latin typeface="Calibri"/>
                        </a:rPr>
                        <a:t>0.1220</a:t>
                      </a:r>
                    </a:p>
                  </a:txBody>
                  <a:tcPr marL="73152" marR="73152" marT="36576" marB="36576" anchor="ctr">
                    <a:solidFill>
                      <a:srgbClr val="FDECEC"/>
                    </a:solidFill>
                  </a:tcPr>
                </a:tc>
                <a:tc>
                  <a:txBody>
                    <a:bodyPr wrap="square"/>
                    <a:lstStyle/>
                    <a:p>
                      <a:pPr algn="r">
                        <a:lnSpc>
                          <a:spcPct val="110000"/>
                        </a:lnSpc>
                      </a:pPr>
                      <a:r>
                        <a:rPr sz="1200" b="1">
                          <a:solidFill>
                            <a:srgbClr val="475569"/>
                          </a:solidFill>
                          <a:latin typeface="Calibri"/>
                        </a:rPr>
                        <a:t>0.0006</a:t>
                      </a:r>
                    </a:p>
                  </a:txBody>
                  <a:tcPr marL="73152" marR="73152" marT="36576" marB="36576" anchor="ctr">
                    <a:solidFill>
                      <a:srgbClr val="FDECEC"/>
                    </a:solidFill>
                  </a:tcPr>
                </a:tc>
                <a:tc>
                  <a:txBody>
                    <a:bodyPr wrap="square"/>
                    <a:lstStyle/>
                    <a:p>
                      <a:pPr algn="r">
                        <a:lnSpc>
                          <a:spcPct val="110000"/>
                        </a:lnSpc>
                      </a:pPr>
                      <a:r>
                        <a:rPr sz="1200" b="0">
                          <a:solidFill>
                            <a:srgbClr val="475569"/>
                          </a:solidFill>
                          <a:latin typeface="Calibri"/>
                        </a:rPr>
                        <a:t>0.9375</a:t>
                      </a:r>
                    </a:p>
                  </a:txBody>
                  <a:tcPr marL="73152" marR="73152" marT="36576" marB="36576" anchor="ctr">
                    <a:solidFill>
                      <a:srgbClr val="FDECEC"/>
                    </a:solidFill>
                  </a:tcPr>
                </a:tc>
                <a:tc>
                  <a:txBody>
                    <a:bodyPr wrap="square"/>
                    <a:lstStyle/>
                    <a:p>
                      <a:pPr algn="r">
                        <a:lnSpc>
                          <a:spcPct val="110000"/>
                        </a:lnSpc>
                      </a:pPr>
                      <a:r>
                        <a:rPr sz="1200" b="0">
                          <a:solidFill>
                            <a:srgbClr val="1F2937"/>
                          </a:solidFill>
                          <a:latin typeface="Calibri"/>
                        </a:rPr>
                        <a:t>0.2408</a:t>
                      </a:r>
                    </a:p>
                  </a:txBody>
                  <a:tcPr marL="73152" marR="73152" marT="36576" marB="36576" anchor="ctr">
                    <a:solidFill>
                      <a:srgbClr val="FDECEC"/>
                    </a:solidFill>
                  </a:tcPr>
                </a:tc>
                <a:tc>
                  <a:txBody>
                    <a:bodyPr wrap="square"/>
                    <a:lstStyle/>
                    <a:p>
                      <a:pPr algn="l">
                        <a:lnSpc>
                          <a:spcPct val="110000"/>
                        </a:lnSpc>
                      </a:pPr>
                      <a:r>
                        <a:rPr sz="1200" b="1">
                          <a:solidFill>
                            <a:srgbClr val="475569"/>
                          </a:solidFill>
                          <a:latin typeface="Calibri"/>
                        </a:rPr>
                        <a:t>Weak, not significant</a:t>
                      </a:r>
                    </a:p>
                  </a:txBody>
                  <a:tcPr marL="73152" marR="73152" marT="36576" marB="36576" anchor="ctr">
                    <a:solidFill>
                      <a:srgbClr val="FDECEC"/>
                    </a:solidFill>
                  </a:tcPr>
                </a:tc>
              </a:tr>
            </a:tbl>
          </a:graphicData>
        </a:graphic>
      </p:graphicFrame>
      <p:sp>
        <p:nvSpPr>
          <p:cNvPr id="10" name="Rounded Rectangle 9"/>
          <p:cNvSpPr/>
          <p:nvPr/>
        </p:nvSpPr>
        <p:spPr>
          <a:xfrm>
            <a:off x="502920" y="4572000"/>
            <a:ext cx="11185855" cy="1417320"/>
          </a:xfrm>
          <a:prstGeom prst="roundRect">
            <a:avLst>
              <a:gd name="adj" fmla="val 8000"/>
            </a:avLst>
          </a:prstGeom>
          <a:solidFill>
            <a:srgbClr val="ECF1F8"/>
          </a:solidFill>
          <a:ln w="12700">
            <a:solidFill>
              <a:srgbClr val="14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4709160"/>
            <a:ext cx="10637215" cy="1188720"/>
          </a:xfrm>
          <a:prstGeom prst="rect">
            <a:avLst/>
          </a:prstGeom>
          <a:noFill/>
        </p:spPr>
        <p:txBody>
          <a:bodyPr wrap="square" lIns="45720" rIns="45720" tIns="18288" bIns="18288" anchor="t">
            <a:spAutoFit/>
          </a:bodyPr>
          <a:lstStyle/>
          <a:p>
            <a:pPr algn="l">
              <a:lnSpc>
                <a:spcPct val="118000"/>
              </a:lnSpc>
              <a:spcAft>
                <a:spcPts val="400"/>
              </a:spcAft>
            </a:pPr>
            <a:r>
              <a:rPr sz="1400" b="1" i="0">
                <a:solidFill>
                  <a:srgbClr val="B31B1B"/>
                </a:solidFill>
                <a:latin typeface="Calibri"/>
              </a:rPr>
              <a:t>Reading</a:t>
            </a:r>
          </a:p>
          <a:p>
            <a:pPr algn="l">
              <a:lnSpc>
                <a:spcPct val="130000"/>
              </a:lnSpc>
            </a:pPr>
            <a:r>
              <a:rPr sz="1500" b="0" i="0">
                <a:solidFill>
                  <a:srgbClr val="1F2937"/>
                </a:solidFill>
                <a:latin typeface="Calibri"/>
              </a:rPr>
              <a:t>Pass-through is strongest in WPI Fuel and Power and PPAC retail petrol, smaller in CPI Fuel and Light, modest in headline WPI, and weak and statistically insignificant in headline CPI. Diagnostics pass for each claim-bearing specification (BG, HAC-RESET, recursive CUSUM).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411480"/>
            <a:ext cx="11185855" cy="777240"/>
          </a:xfrm>
          <a:prstGeom prst="rect">
            <a:avLst/>
          </a:prstGeom>
          <a:noFill/>
        </p:spPr>
        <p:txBody>
          <a:bodyPr wrap="square" lIns="45720" rIns="45720" tIns="18288" bIns="18288" anchor="t">
            <a:spAutoFit/>
          </a:bodyPr>
          <a:lstStyle/>
          <a:p>
            <a:pPr algn="l">
              <a:lnSpc>
                <a:spcPct val="115000"/>
              </a:lnSpc>
            </a:pPr>
            <a:r>
              <a:rPr sz="3000" b="1" i="0">
                <a:solidFill>
                  <a:srgbClr val="142A55"/>
                </a:solidFill>
                <a:latin typeface="Calibri"/>
              </a:rPr>
              <a:t>Wholesale results: WPI and WPI Fuel and Power</a:t>
            </a:r>
          </a:p>
        </p:txBody>
      </p:sp>
      <p:sp>
        <p:nvSpPr>
          <p:cNvPr id="4" name="Rectangle 3"/>
          <p:cNvSpPr/>
          <p:nvPr/>
        </p:nvSpPr>
        <p:spPr>
          <a:xfrm>
            <a:off x="502920" y="1207008"/>
            <a:ext cx="1097280" cy="36576"/>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600200" y="1207008"/>
            <a:ext cx="1008857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02920" y="6400800"/>
            <a:ext cx="11185855"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02920" y="6446520"/>
            <a:ext cx="10271455" cy="292608"/>
          </a:xfrm>
          <a:prstGeom prst="rect">
            <a:avLst/>
          </a:prstGeom>
          <a:noFill/>
        </p:spPr>
        <p:txBody>
          <a:bodyPr wrap="square" lIns="45720" rIns="45720" tIns="18288" bIns="18288" anchor="t">
            <a:spAutoFit/>
          </a:bodyPr>
          <a:lstStyle/>
          <a:p>
            <a:pPr algn="l">
              <a:lnSpc>
                <a:spcPct val="115000"/>
              </a:lnSpc>
            </a:pPr>
            <a:r>
              <a:rPr sz="900" b="0" i="0">
                <a:solidFill>
                  <a:srgbClr val="4B5563"/>
                </a:solidFill>
                <a:latin typeface="Calibri"/>
              </a:rPr>
              <a:t>Layered oil-price pass-through in India  |  Aniket Pandey, B.Tech + MS Economics</a:t>
            </a:r>
          </a:p>
        </p:txBody>
      </p:sp>
      <p:sp>
        <p:nvSpPr>
          <p:cNvPr id="8" name="TextBox 7"/>
          <p:cNvSpPr txBox="1"/>
          <p:nvPr/>
        </p:nvSpPr>
        <p:spPr>
          <a:xfrm>
            <a:off x="10591495" y="6446520"/>
            <a:ext cx="1097280" cy="292608"/>
          </a:xfrm>
          <a:prstGeom prst="rect">
            <a:avLst/>
          </a:prstGeom>
          <a:noFill/>
        </p:spPr>
        <p:txBody>
          <a:bodyPr wrap="square" lIns="45720" rIns="45720" tIns="18288" bIns="18288" anchor="t">
            <a:spAutoFit/>
          </a:bodyPr>
          <a:lstStyle/>
          <a:p>
            <a:pPr algn="r">
              <a:lnSpc>
                <a:spcPct val="115000"/>
              </a:lnSpc>
            </a:pPr>
            <a:r>
              <a:rPr sz="900" b="0" i="0">
                <a:solidFill>
                  <a:srgbClr val="4B5563"/>
                </a:solidFill>
                <a:latin typeface="Calibri"/>
              </a:rPr>
              <a:t>Slide 6 of 11</a:t>
            </a:r>
          </a:p>
        </p:txBody>
      </p:sp>
      <p:sp>
        <p:nvSpPr>
          <p:cNvPr id="9" name="Rounded Rectangle 8"/>
          <p:cNvSpPr/>
          <p:nvPr/>
        </p:nvSpPr>
        <p:spPr>
          <a:xfrm>
            <a:off x="502920" y="1417320"/>
            <a:ext cx="5120640" cy="2103120"/>
          </a:xfrm>
          <a:prstGeom prst="roundRect">
            <a:avLst>
              <a:gd name="adj" fmla="val 8000"/>
            </a:avLst>
          </a:prstGeom>
          <a:solidFill>
            <a:srgbClr val="FFFFFF"/>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27048"/>
            <a:ext cx="4754880" cy="365760"/>
          </a:xfrm>
          <a:prstGeom prst="rect">
            <a:avLst/>
          </a:prstGeom>
          <a:noFill/>
        </p:spPr>
        <p:txBody>
          <a:bodyPr wrap="square" lIns="45720" rIns="45720" tIns="18288" bIns="18288" anchor="t">
            <a:spAutoFit/>
          </a:bodyPr>
          <a:lstStyle/>
          <a:p>
            <a:pPr algn="l">
              <a:lnSpc>
                <a:spcPct val="115000"/>
              </a:lnSpc>
            </a:pPr>
            <a:r>
              <a:rPr sz="1500" b="1" i="0">
                <a:solidFill>
                  <a:srgbClr val="142A55"/>
                </a:solidFill>
                <a:latin typeface="Calibri"/>
              </a:rPr>
              <a:t>Headline WPI</a:t>
            </a:r>
          </a:p>
        </p:txBody>
      </p:sp>
      <p:sp>
        <p:nvSpPr>
          <p:cNvPr id="11" name="TextBox 10"/>
          <p:cNvSpPr txBox="1"/>
          <p:nvPr/>
        </p:nvSpPr>
        <p:spPr>
          <a:xfrm>
            <a:off x="685800" y="1874520"/>
            <a:ext cx="4754880" cy="1600200"/>
          </a:xfrm>
          <a:prstGeom prst="rect">
            <a:avLst/>
          </a:prstGeom>
          <a:noFill/>
        </p:spPr>
        <p:txBody>
          <a:bodyPr wrap="square" lIns="45720" rIns="45720" tIns="18288" bIns="18288" anchor="t">
            <a:spAutoFit/>
          </a:bodyPr>
          <a:lstStyle/>
          <a:p>
            <a:pPr algn="l">
              <a:lnSpc>
                <a:spcPct val="118000"/>
              </a:lnSpc>
              <a:spcAft>
                <a:spcPts val="400"/>
              </a:spcAft>
            </a:pPr>
            <a:r>
              <a:rPr sz="1400" b="1" i="0">
                <a:solidFill>
                  <a:srgbClr val="4B5563"/>
                </a:solidFill>
                <a:latin typeface="Calibri"/>
              </a:rPr>
              <a:t>Sample: </a:t>
            </a:r>
            <a:r>
              <a:rPr sz="1400" b="0" i="0">
                <a:solidFill>
                  <a:srgbClr val="1F2937"/>
                </a:solidFill>
                <a:latin typeface="Calibri"/>
              </a:rPr>
              <a:t>1983-05 to 2026-03  (N = 515)</a:t>
            </a:r>
          </a:p>
          <a:p>
            <a:pPr algn="l">
              <a:lnSpc>
                <a:spcPct val="118000"/>
              </a:lnSpc>
              <a:spcAft>
                <a:spcPts val="200"/>
              </a:spcAft>
            </a:pPr>
            <a:r>
              <a:rPr sz="1400" b="0" i="0">
                <a:solidFill>
                  <a:srgbClr val="4B5563"/>
                </a:solidFill>
                <a:latin typeface="Calibri"/>
              </a:rPr>
              <a:t>CPT⁺ = </a:t>
            </a:r>
            <a:r>
              <a:rPr sz="1800" b="1" i="0">
                <a:solidFill>
                  <a:srgbClr val="475569"/>
                </a:solidFill>
                <a:latin typeface="Calibri"/>
              </a:rPr>
              <a:t>0.0301</a:t>
            </a:r>
            <a:r>
              <a:rPr sz="1400" b="0" i="0">
                <a:solidFill>
                  <a:srgbClr val="1F2937"/>
                </a:solidFill>
                <a:latin typeface="Calibri"/>
              </a:rPr>
              <a:t>      p = 0.0240</a:t>
            </a:r>
          </a:p>
          <a:p>
            <a:pPr algn="l">
              <a:lnSpc>
                <a:spcPct val="118000"/>
              </a:lnSpc>
              <a:spcAft>
                <a:spcPts val="600"/>
              </a:spcAft>
            </a:pPr>
            <a:r>
              <a:rPr sz="1400" b="0" i="0">
                <a:solidFill>
                  <a:srgbClr val="4B5563"/>
                </a:solidFill>
                <a:latin typeface="Calibri"/>
              </a:rPr>
              <a:t>CPT⁻ = </a:t>
            </a:r>
            <a:r>
              <a:rPr sz="1800" b="1" i="0">
                <a:solidFill>
                  <a:srgbClr val="475569"/>
                </a:solidFill>
                <a:latin typeface="Calibri"/>
              </a:rPr>
              <a:t>0.0374</a:t>
            </a:r>
            <a:r>
              <a:rPr sz="1400" b="0" i="0">
                <a:solidFill>
                  <a:srgbClr val="1F2937"/>
                </a:solidFill>
                <a:latin typeface="Calibri"/>
              </a:rPr>
              <a:t>      p = 0.0012</a:t>
            </a:r>
          </a:p>
          <a:p>
            <a:pPr algn="l">
              <a:lnSpc>
                <a:spcPct val="118000"/>
              </a:lnSpc>
            </a:pPr>
            <a:r>
              <a:rPr sz="1400" b="0" i="1">
                <a:solidFill>
                  <a:srgbClr val="1F2937"/>
                </a:solidFill>
                <a:latin typeface="Calibri"/>
              </a:rPr>
              <a:t>Modest but statistically significant.</a:t>
            </a:r>
          </a:p>
        </p:txBody>
      </p:sp>
      <p:sp>
        <p:nvSpPr>
          <p:cNvPr id="12" name="Rounded Rectangle 11"/>
          <p:cNvSpPr/>
          <p:nvPr/>
        </p:nvSpPr>
        <p:spPr>
          <a:xfrm>
            <a:off x="502920" y="3749040"/>
            <a:ext cx="5120640" cy="2240280"/>
          </a:xfrm>
          <a:prstGeom prst="roundRect">
            <a:avLst>
              <a:gd name="adj" fmla="val 8000"/>
            </a:avLst>
          </a:prstGeom>
          <a:solidFill>
            <a:srgbClr val="ECF1F8"/>
          </a:solidFill>
          <a:ln w="12700">
            <a:solidFill>
              <a:srgbClr val="14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858768"/>
            <a:ext cx="4754880" cy="365760"/>
          </a:xfrm>
          <a:prstGeom prst="rect">
            <a:avLst/>
          </a:prstGeom>
          <a:noFill/>
        </p:spPr>
        <p:txBody>
          <a:bodyPr wrap="square" lIns="45720" rIns="45720" tIns="18288" bIns="18288" anchor="t">
            <a:spAutoFit/>
          </a:bodyPr>
          <a:lstStyle/>
          <a:p>
            <a:pPr algn="l">
              <a:lnSpc>
                <a:spcPct val="115000"/>
              </a:lnSpc>
            </a:pPr>
            <a:r>
              <a:rPr sz="1500" b="1" i="0">
                <a:solidFill>
                  <a:srgbClr val="142A55"/>
                </a:solidFill>
                <a:latin typeface="Calibri"/>
              </a:rPr>
              <a:t>WPI Fuel and Power  ·  preferred</a:t>
            </a:r>
          </a:p>
        </p:txBody>
      </p:sp>
      <p:sp>
        <p:nvSpPr>
          <p:cNvPr id="14" name="TextBox 13"/>
          <p:cNvSpPr txBox="1"/>
          <p:nvPr/>
        </p:nvSpPr>
        <p:spPr>
          <a:xfrm>
            <a:off x="685800" y="4206240"/>
            <a:ext cx="4754880" cy="1737360"/>
          </a:xfrm>
          <a:prstGeom prst="rect">
            <a:avLst/>
          </a:prstGeom>
          <a:noFill/>
        </p:spPr>
        <p:txBody>
          <a:bodyPr wrap="square" lIns="45720" rIns="45720" tIns="18288" bIns="18288" anchor="t">
            <a:spAutoFit/>
          </a:bodyPr>
          <a:lstStyle/>
          <a:p>
            <a:pPr algn="l">
              <a:lnSpc>
                <a:spcPct val="118000"/>
              </a:lnSpc>
              <a:spcAft>
                <a:spcPts val="400"/>
              </a:spcAft>
            </a:pPr>
            <a:r>
              <a:rPr sz="1400" b="1" i="0">
                <a:solidFill>
                  <a:srgbClr val="4B5563"/>
                </a:solidFill>
                <a:latin typeface="Calibri"/>
              </a:rPr>
              <a:t>Sample: </a:t>
            </a:r>
            <a:r>
              <a:rPr sz="1400" b="0" i="0">
                <a:solidFill>
                  <a:srgbClr val="1F2937"/>
                </a:solidFill>
                <a:latin typeface="Calibri"/>
              </a:rPr>
              <a:t>2010-04 to 2026-03, excl. Apr–Sep 2020 (N = 186)</a:t>
            </a:r>
          </a:p>
          <a:p>
            <a:pPr algn="l">
              <a:lnSpc>
                <a:spcPct val="118000"/>
              </a:lnSpc>
              <a:spcAft>
                <a:spcPts val="200"/>
              </a:spcAft>
            </a:pPr>
            <a:r>
              <a:rPr sz="1400" b="0" i="0">
                <a:solidFill>
                  <a:srgbClr val="4B5563"/>
                </a:solidFill>
                <a:latin typeface="Calibri"/>
              </a:rPr>
              <a:t>CPT⁺ = </a:t>
            </a:r>
            <a:r>
              <a:rPr sz="2000" b="1" i="0">
                <a:solidFill>
                  <a:srgbClr val="B31B1B"/>
                </a:solidFill>
                <a:latin typeface="Calibri"/>
              </a:rPr>
              <a:t>0.5205</a:t>
            </a:r>
            <a:r>
              <a:rPr sz="1400" b="0" i="0">
                <a:solidFill>
                  <a:srgbClr val="1F2937"/>
                </a:solidFill>
                <a:latin typeface="Calibri"/>
              </a:rPr>
              <a:t>      p &lt; 0.001</a:t>
            </a:r>
          </a:p>
          <a:p>
            <a:pPr algn="l">
              <a:lnSpc>
                <a:spcPct val="118000"/>
              </a:lnSpc>
              <a:spcAft>
                <a:spcPts val="600"/>
              </a:spcAft>
            </a:pPr>
            <a:r>
              <a:rPr sz="1400" b="0" i="0">
                <a:solidFill>
                  <a:srgbClr val="4B5563"/>
                </a:solidFill>
                <a:latin typeface="Calibri"/>
              </a:rPr>
              <a:t>CPT⁻ = </a:t>
            </a:r>
            <a:r>
              <a:rPr sz="2000" b="1" i="0">
                <a:solidFill>
                  <a:srgbClr val="B31B1B"/>
                </a:solidFill>
                <a:latin typeface="Calibri"/>
              </a:rPr>
              <a:t>0.4195</a:t>
            </a:r>
            <a:r>
              <a:rPr sz="1400" b="0" i="0">
                <a:solidFill>
                  <a:srgbClr val="1F2937"/>
                </a:solidFill>
                <a:latin typeface="Calibri"/>
              </a:rPr>
              <a:t>      p &lt; 0.001</a:t>
            </a:r>
          </a:p>
          <a:p>
            <a:pPr algn="l">
              <a:lnSpc>
                <a:spcPct val="118000"/>
              </a:lnSpc>
            </a:pPr>
            <a:r>
              <a:rPr sz="1400" b="0" i="1">
                <a:solidFill>
                  <a:srgbClr val="1F2937"/>
                </a:solidFill>
                <a:latin typeface="Calibri"/>
              </a:rPr>
              <a:t>Strong wholesale fuel pass-through. Post-2010 sample, COVID months excluded.</a:t>
            </a:r>
          </a:p>
        </p:txBody>
      </p:sp>
      <p:pic>
        <p:nvPicPr>
          <p:cNvPr id="15" name="Picture 14" descr="fig_04_cumulative_passthrough.png"/>
          <p:cNvPicPr>
            <a:picLocks noChangeAspect="1"/>
          </p:cNvPicPr>
          <p:nvPr/>
        </p:nvPicPr>
        <p:blipFill>
          <a:blip r:embed="rId2"/>
          <a:stretch>
            <a:fillRect/>
          </a:stretch>
        </p:blipFill>
        <p:spPr>
          <a:xfrm>
            <a:off x="6111087" y="1417320"/>
            <a:ext cx="5364480" cy="4023360"/>
          </a:xfrm>
          <a:prstGeom prst="rect">
            <a:avLst/>
          </a:prstGeom>
        </p:spPr>
      </p:pic>
      <p:sp>
        <p:nvSpPr>
          <p:cNvPr id="16" name="TextBox 15"/>
          <p:cNvSpPr txBox="1"/>
          <p:nvPr/>
        </p:nvSpPr>
        <p:spPr>
          <a:xfrm>
            <a:off x="5897880" y="5486400"/>
            <a:ext cx="5790895" cy="365760"/>
          </a:xfrm>
          <a:prstGeom prst="rect">
            <a:avLst/>
          </a:prstGeom>
          <a:noFill/>
        </p:spPr>
        <p:txBody>
          <a:bodyPr wrap="square" lIns="45720" rIns="45720" tIns="18288" bIns="18288" anchor="t">
            <a:spAutoFit/>
          </a:bodyPr>
          <a:lstStyle/>
          <a:p>
            <a:pPr algn="ctr">
              <a:lnSpc>
                <a:spcPct val="115000"/>
              </a:lnSpc>
            </a:pPr>
            <a:r>
              <a:rPr sz="1100" b="0" i="1">
                <a:solidFill>
                  <a:srgbClr val="4B5563"/>
                </a:solidFill>
                <a:latin typeface="Calibri"/>
              </a:rPr>
              <a:t>Cumulative pass-through across WPI specifications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411480"/>
            <a:ext cx="11185855" cy="777240"/>
          </a:xfrm>
          <a:prstGeom prst="rect">
            <a:avLst/>
          </a:prstGeom>
          <a:noFill/>
        </p:spPr>
        <p:txBody>
          <a:bodyPr wrap="square" lIns="45720" rIns="45720" tIns="18288" bIns="18288" anchor="t">
            <a:spAutoFit/>
          </a:bodyPr>
          <a:lstStyle/>
          <a:p>
            <a:pPr algn="l">
              <a:lnSpc>
                <a:spcPct val="115000"/>
              </a:lnSpc>
            </a:pPr>
            <a:r>
              <a:rPr sz="3000" b="1" i="0">
                <a:solidFill>
                  <a:srgbClr val="142A55"/>
                </a:solidFill>
                <a:latin typeface="Calibri"/>
              </a:rPr>
              <a:t>Consumer fuel layers: retail petrol and CPI Fuel and Light</a:t>
            </a:r>
          </a:p>
        </p:txBody>
      </p:sp>
      <p:sp>
        <p:nvSpPr>
          <p:cNvPr id="4" name="Rectangle 3"/>
          <p:cNvSpPr/>
          <p:nvPr/>
        </p:nvSpPr>
        <p:spPr>
          <a:xfrm>
            <a:off x="502920" y="1207008"/>
            <a:ext cx="1097280" cy="36576"/>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600200" y="1207008"/>
            <a:ext cx="1008857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02920" y="6400800"/>
            <a:ext cx="11185855"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02920" y="6446520"/>
            <a:ext cx="10271455" cy="292608"/>
          </a:xfrm>
          <a:prstGeom prst="rect">
            <a:avLst/>
          </a:prstGeom>
          <a:noFill/>
        </p:spPr>
        <p:txBody>
          <a:bodyPr wrap="square" lIns="45720" rIns="45720" tIns="18288" bIns="18288" anchor="t">
            <a:spAutoFit/>
          </a:bodyPr>
          <a:lstStyle/>
          <a:p>
            <a:pPr algn="l">
              <a:lnSpc>
                <a:spcPct val="115000"/>
              </a:lnSpc>
            </a:pPr>
            <a:r>
              <a:rPr sz="900" b="0" i="0">
                <a:solidFill>
                  <a:srgbClr val="4B5563"/>
                </a:solidFill>
                <a:latin typeface="Calibri"/>
              </a:rPr>
              <a:t>Layered oil-price pass-through in India  |  Aniket Pandey, B.Tech + MS Economics</a:t>
            </a:r>
          </a:p>
        </p:txBody>
      </p:sp>
      <p:sp>
        <p:nvSpPr>
          <p:cNvPr id="8" name="TextBox 7"/>
          <p:cNvSpPr txBox="1"/>
          <p:nvPr/>
        </p:nvSpPr>
        <p:spPr>
          <a:xfrm>
            <a:off x="10591495" y="6446520"/>
            <a:ext cx="1097280" cy="292608"/>
          </a:xfrm>
          <a:prstGeom prst="rect">
            <a:avLst/>
          </a:prstGeom>
          <a:noFill/>
        </p:spPr>
        <p:txBody>
          <a:bodyPr wrap="square" lIns="45720" rIns="45720" tIns="18288" bIns="18288" anchor="t">
            <a:spAutoFit/>
          </a:bodyPr>
          <a:lstStyle/>
          <a:p>
            <a:pPr algn="r">
              <a:lnSpc>
                <a:spcPct val="115000"/>
              </a:lnSpc>
            </a:pPr>
            <a:r>
              <a:rPr sz="900" b="0" i="0">
                <a:solidFill>
                  <a:srgbClr val="4B5563"/>
                </a:solidFill>
                <a:latin typeface="Calibri"/>
              </a:rPr>
              <a:t>Slide 7 of 11</a:t>
            </a:r>
          </a:p>
        </p:txBody>
      </p:sp>
      <p:sp>
        <p:nvSpPr>
          <p:cNvPr id="9" name="Rounded Rectangle 8"/>
          <p:cNvSpPr/>
          <p:nvPr/>
        </p:nvSpPr>
        <p:spPr>
          <a:xfrm>
            <a:off x="502920" y="1417320"/>
            <a:ext cx="11185855" cy="2103120"/>
          </a:xfrm>
          <a:prstGeom prst="roundRect">
            <a:avLst>
              <a:gd name="adj" fmla="val 8000"/>
            </a:avLst>
          </a:prstGeom>
          <a:solidFill>
            <a:srgbClr val="FFFFFF"/>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527048"/>
            <a:ext cx="10728655" cy="365760"/>
          </a:xfrm>
          <a:prstGeom prst="rect">
            <a:avLst/>
          </a:prstGeom>
          <a:noFill/>
        </p:spPr>
        <p:txBody>
          <a:bodyPr wrap="square" lIns="45720" rIns="45720" tIns="18288" bIns="18288" anchor="t">
            <a:spAutoFit/>
          </a:bodyPr>
          <a:lstStyle/>
          <a:p>
            <a:pPr algn="l">
              <a:lnSpc>
                <a:spcPct val="115000"/>
              </a:lnSpc>
            </a:pPr>
            <a:r>
              <a:rPr sz="1600" b="1" i="0">
                <a:solidFill>
                  <a:srgbClr val="142A55"/>
                </a:solidFill>
                <a:latin typeface="Calibri"/>
              </a:rPr>
              <a:t>PPAC retail petrol  ·  shock = Brent</a:t>
            </a:r>
          </a:p>
        </p:txBody>
      </p:sp>
      <p:sp>
        <p:nvSpPr>
          <p:cNvPr id="11" name="TextBox 10"/>
          <p:cNvSpPr txBox="1"/>
          <p:nvPr/>
        </p:nvSpPr>
        <p:spPr>
          <a:xfrm>
            <a:off x="731520" y="1920240"/>
            <a:ext cx="10728655" cy="1508760"/>
          </a:xfrm>
          <a:prstGeom prst="rect">
            <a:avLst/>
          </a:prstGeom>
          <a:noFill/>
        </p:spPr>
        <p:txBody>
          <a:bodyPr wrap="square" lIns="45720" rIns="45720" tIns="18288" bIns="18288" anchor="t">
            <a:spAutoFit/>
          </a:bodyPr>
          <a:lstStyle/>
          <a:p>
            <a:pPr algn="l">
              <a:lnSpc>
                <a:spcPct val="118000"/>
              </a:lnSpc>
              <a:spcAft>
                <a:spcPts val="600"/>
              </a:spcAft>
            </a:pPr>
            <a:r>
              <a:rPr sz="1400" b="1" i="0">
                <a:solidFill>
                  <a:srgbClr val="4B5563"/>
                </a:solidFill>
                <a:latin typeface="Calibri"/>
              </a:rPr>
              <a:t>Sample: </a:t>
            </a:r>
            <a:r>
              <a:rPr sz="1400" b="0" i="0">
                <a:solidFill>
                  <a:srgbClr val="1F2937"/>
                </a:solidFill>
                <a:latin typeface="Calibri"/>
              </a:rPr>
              <a:t>2004-08 to 2024-12  (N = 245)</a:t>
            </a:r>
          </a:p>
          <a:p>
            <a:pPr algn="l">
              <a:lnSpc>
                <a:spcPct val="118000"/>
              </a:lnSpc>
              <a:spcAft>
                <a:spcPts val="600"/>
              </a:spcAft>
            </a:pPr>
            <a:r>
              <a:rPr sz="1400" b="0" i="0">
                <a:solidFill>
                  <a:srgbClr val="4B5563"/>
                </a:solidFill>
                <a:latin typeface="Calibri"/>
              </a:rPr>
              <a:t>CPT⁺ = </a:t>
            </a:r>
            <a:r>
              <a:rPr sz="2000" b="1" i="0">
                <a:solidFill>
                  <a:srgbClr val="B31B1B"/>
                </a:solidFill>
                <a:latin typeface="Calibri"/>
              </a:rPr>
              <a:t>0.3459</a:t>
            </a:r>
            <a:r>
              <a:rPr sz="1400" b="0" i="0">
                <a:solidFill>
                  <a:srgbClr val="1F2937"/>
                </a:solidFill>
                <a:latin typeface="Calibri"/>
              </a:rPr>
              <a:t>      p &lt; 0.001</a:t>
            </a:r>
            <a:r>
              <a:rPr sz="1400" b="0" i="0">
                <a:solidFill>
                  <a:srgbClr val="4B5563"/>
                </a:solidFill>
                <a:latin typeface="Calibri"/>
              </a:rPr>
              <a:t>         |         </a:t>
            </a:r>
            <a:r>
              <a:rPr sz="1400" b="0" i="0">
                <a:solidFill>
                  <a:srgbClr val="4B5563"/>
                </a:solidFill>
                <a:latin typeface="Calibri"/>
              </a:rPr>
              <a:t>CPT⁻ = </a:t>
            </a:r>
            <a:r>
              <a:rPr sz="2000" b="1" i="0">
                <a:solidFill>
                  <a:srgbClr val="B31B1B"/>
                </a:solidFill>
                <a:latin typeface="Calibri"/>
              </a:rPr>
              <a:t>0.1912</a:t>
            </a:r>
            <a:r>
              <a:rPr sz="1400" b="0" i="0">
                <a:solidFill>
                  <a:srgbClr val="1F2937"/>
                </a:solidFill>
                <a:latin typeface="Calibri"/>
              </a:rPr>
              <a:t>      p = 0.0002</a:t>
            </a:r>
          </a:p>
          <a:p>
            <a:pPr algn="l">
              <a:lnSpc>
                <a:spcPct val="118000"/>
              </a:lnSpc>
            </a:pPr>
            <a:r>
              <a:rPr sz="1400" b="0" i="1">
                <a:solidFill>
                  <a:srgbClr val="1F2937"/>
                </a:solidFill>
                <a:latin typeface="Calibri"/>
              </a:rPr>
              <a:t>Asymmetry p = 0.0999 (marginal at 10%). Strong direct fuel pass-through.</a:t>
            </a:r>
          </a:p>
        </p:txBody>
      </p:sp>
      <p:sp>
        <p:nvSpPr>
          <p:cNvPr id="12" name="Rounded Rectangle 11"/>
          <p:cNvSpPr/>
          <p:nvPr/>
        </p:nvSpPr>
        <p:spPr>
          <a:xfrm>
            <a:off x="502920" y="3749040"/>
            <a:ext cx="11185855" cy="2240280"/>
          </a:xfrm>
          <a:prstGeom prst="roundRect">
            <a:avLst>
              <a:gd name="adj" fmla="val 8000"/>
            </a:avLst>
          </a:prstGeom>
          <a:solidFill>
            <a:srgbClr val="ECF1F8"/>
          </a:solidFill>
          <a:ln w="12700">
            <a:solidFill>
              <a:srgbClr val="14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858768"/>
            <a:ext cx="10728655" cy="365760"/>
          </a:xfrm>
          <a:prstGeom prst="rect">
            <a:avLst/>
          </a:prstGeom>
          <a:noFill/>
        </p:spPr>
        <p:txBody>
          <a:bodyPr wrap="square" lIns="45720" rIns="45720" tIns="18288" bIns="18288" anchor="t">
            <a:spAutoFit/>
          </a:bodyPr>
          <a:lstStyle/>
          <a:p>
            <a:pPr algn="l">
              <a:lnSpc>
                <a:spcPct val="115000"/>
              </a:lnSpc>
            </a:pPr>
            <a:r>
              <a:rPr sz="1600" b="1" i="0">
                <a:solidFill>
                  <a:srgbClr val="142A55"/>
                </a:solidFill>
                <a:latin typeface="Calibri"/>
              </a:rPr>
              <a:t>CPI Fuel and Light  ·  shock = PPAC retail petrol</a:t>
            </a:r>
          </a:p>
        </p:txBody>
      </p:sp>
      <p:sp>
        <p:nvSpPr>
          <p:cNvPr id="14" name="TextBox 13"/>
          <p:cNvSpPr txBox="1"/>
          <p:nvPr/>
        </p:nvSpPr>
        <p:spPr>
          <a:xfrm>
            <a:off x="731520" y="4251960"/>
            <a:ext cx="10728655" cy="1645920"/>
          </a:xfrm>
          <a:prstGeom prst="rect">
            <a:avLst/>
          </a:prstGeom>
          <a:noFill/>
        </p:spPr>
        <p:txBody>
          <a:bodyPr wrap="square" lIns="45720" rIns="45720" tIns="18288" bIns="18288" anchor="t">
            <a:spAutoFit/>
          </a:bodyPr>
          <a:lstStyle/>
          <a:p>
            <a:pPr algn="l">
              <a:lnSpc>
                <a:spcPct val="118000"/>
              </a:lnSpc>
              <a:spcAft>
                <a:spcPts val="600"/>
              </a:spcAft>
            </a:pPr>
            <a:r>
              <a:rPr sz="1400" b="1" i="0">
                <a:solidFill>
                  <a:srgbClr val="4B5563"/>
                </a:solidFill>
                <a:latin typeface="Calibri"/>
              </a:rPr>
              <a:t>Sample: </a:t>
            </a:r>
            <a:r>
              <a:rPr sz="1400" b="0" i="0">
                <a:solidFill>
                  <a:srgbClr val="1F2937"/>
                </a:solidFill>
                <a:latin typeface="Calibri"/>
              </a:rPr>
              <a:t>2011-05 to 2024-12  (N = 164)</a:t>
            </a:r>
          </a:p>
          <a:p>
            <a:pPr algn="l">
              <a:lnSpc>
                <a:spcPct val="118000"/>
              </a:lnSpc>
              <a:spcAft>
                <a:spcPts val="600"/>
              </a:spcAft>
            </a:pPr>
            <a:r>
              <a:rPr sz="1400" b="0" i="0">
                <a:solidFill>
                  <a:srgbClr val="4B5563"/>
                </a:solidFill>
                <a:latin typeface="Calibri"/>
              </a:rPr>
              <a:t>CPT⁺ = </a:t>
            </a:r>
            <a:r>
              <a:rPr sz="2000" b="1" i="0">
                <a:solidFill>
                  <a:srgbClr val="C2760C"/>
                </a:solidFill>
                <a:latin typeface="Calibri"/>
              </a:rPr>
              <a:t>0.1777</a:t>
            </a:r>
            <a:r>
              <a:rPr sz="1400" b="0" i="0">
                <a:solidFill>
                  <a:srgbClr val="1F2937"/>
                </a:solidFill>
                <a:latin typeface="Calibri"/>
              </a:rPr>
              <a:t>      p = 0.0021</a:t>
            </a:r>
            <a:r>
              <a:rPr sz="1400" b="0" i="0">
                <a:solidFill>
                  <a:srgbClr val="4B5563"/>
                </a:solidFill>
                <a:latin typeface="Calibri"/>
              </a:rPr>
              <a:t>         |         </a:t>
            </a:r>
            <a:r>
              <a:rPr sz="1400" b="0" i="0">
                <a:solidFill>
                  <a:srgbClr val="4B5563"/>
                </a:solidFill>
                <a:latin typeface="Calibri"/>
              </a:rPr>
              <a:t>CPT⁻ = </a:t>
            </a:r>
            <a:r>
              <a:rPr sz="2000" b="1" i="0">
                <a:solidFill>
                  <a:srgbClr val="475569"/>
                </a:solidFill>
                <a:latin typeface="Calibri"/>
              </a:rPr>
              <a:t>0.1058</a:t>
            </a:r>
            <a:r>
              <a:rPr sz="1400" b="0" i="0">
                <a:solidFill>
                  <a:srgbClr val="1F2937"/>
                </a:solidFill>
                <a:latin typeface="Calibri"/>
              </a:rPr>
              <a:t>      p = 0.1741</a:t>
            </a:r>
          </a:p>
          <a:p>
            <a:pPr algn="l">
              <a:lnSpc>
                <a:spcPct val="118000"/>
              </a:lnSpc>
            </a:pPr>
            <a:r>
              <a:rPr sz="1400" b="0" i="1">
                <a:solidFill>
                  <a:srgbClr val="1F2937"/>
                </a:solidFill>
                <a:latin typeface="Calibri"/>
              </a:rPr>
              <a:t>Bridge from retail fuel to the consumer fuel basket; effect smaller than upstream petrol.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411480"/>
            <a:ext cx="11185855" cy="777240"/>
          </a:xfrm>
          <a:prstGeom prst="rect">
            <a:avLst/>
          </a:prstGeom>
          <a:noFill/>
        </p:spPr>
        <p:txBody>
          <a:bodyPr wrap="square" lIns="45720" rIns="45720" tIns="18288" bIns="18288" anchor="t">
            <a:spAutoFit/>
          </a:bodyPr>
          <a:lstStyle/>
          <a:p>
            <a:pPr algn="l">
              <a:lnSpc>
                <a:spcPct val="115000"/>
              </a:lnSpc>
            </a:pPr>
            <a:r>
              <a:rPr sz="3000" b="1" i="0">
                <a:solidFill>
                  <a:srgbClr val="142A55"/>
                </a:solidFill>
                <a:latin typeface="Calibri"/>
              </a:rPr>
              <a:t>Headline CPI: where the oil signal becomes weak</a:t>
            </a:r>
          </a:p>
        </p:txBody>
      </p:sp>
      <p:sp>
        <p:nvSpPr>
          <p:cNvPr id="4" name="Rectangle 3"/>
          <p:cNvSpPr/>
          <p:nvPr/>
        </p:nvSpPr>
        <p:spPr>
          <a:xfrm>
            <a:off x="502920" y="1207008"/>
            <a:ext cx="1097280" cy="36576"/>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600200" y="1207008"/>
            <a:ext cx="1008857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02920" y="6400800"/>
            <a:ext cx="11185855"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02920" y="6446520"/>
            <a:ext cx="10271455" cy="292608"/>
          </a:xfrm>
          <a:prstGeom prst="rect">
            <a:avLst/>
          </a:prstGeom>
          <a:noFill/>
        </p:spPr>
        <p:txBody>
          <a:bodyPr wrap="square" lIns="45720" rIns="45720" tIns="18288" bIns="18288" anchor="t">
            <a:spAutoFit/>
          </a:bodyPr>
          <a:lstStyle/>
          <a:p>
            <a:pPr algn="l">
              <a:lnSpc>
                <a:spcPct val="115000"/>
              </a:lnSpc>
            </a:pPr>
            <a:r>
              <a:rPr sz="900" b="0" i="0">
                <a:solidFill>
                  <a:srgbClr val="4B5563"/>
                </a:solidFill>
                <a:latin typeface="Calibri"/>
              </a:rPr>
              <a:t>Layered oil-price pass-through in India  |  Aniket Pandey, B.Tech + MS Economics</a:t>
            </a:r>
          </a:p>
        </p:txBody>
      </p:sp>
      <p:sp>
        <p:nvSpPr>
          <p:cNvPr id="8" name="TextBox 7"/>
          <p:cNvSpPr txBox="1"/>
          <p:nvPr/>
        </p:nvSpPr>
        <p:spPr>
          <a:xfrm>
            <a:off x="10591495" y="6446520"/>
            <a:ext cx="1097280" cy="292608"/>
          </a:xfrm>
          <a:prstGeom prst="rect">
            <a:avLst/>
          </a:prstGeom>
          <a:noFill/>
        </p:spPr>
        <p:txBody>
          <a:bodyPr wrap="square" lIns="45720" rIns="45720" tIns="18288" bIns="18288" anchor="t">
            <a:spAutoFit/>
          </a:bodyPr>
          <a:lstStyle/>
          <a:p>
            <a:pPr algn="r">
              <a:lnSpc>
                <a:spcPct val="115000"/>
              </a:lnSpc>
            </a:pPr>
            <a:r>
              <a:rPr sz="900" b="0" i="0">
                <a:solidFill>
                  <a:srgbClr val="4B5563"/>
                </a:solidFill>
                <a:latin typeface="Calibri"/>
              </a:rPr>
              <a:t>Slide 8 of 11</a:t>
            </a:r>
          </a:p>
        </p:txBody>
      </p:sp>
      <p:sp>
        <p:nvSpPr>
          <p:cNvPr id="9" name="Rounded Rectangle 8"/>
          <p:cNvSpPr/>
          <p:nvPr/>
        </p:nvSpPr>
        <p:spPr>
          <a:xfrm>
            <a:off x="502920" y="1417320"/>
            <a:ext cx="5029200" cy="4434840"/>
          </a:xfrm>
          <a:prstGeom prst="roundRect">
            <a:avLst>
              <a:gd name="adj" fmla="val 8000"/>
            </a:avLst>
          </a:prstGeom>
          <a:solidFill>
            <a:srgbClr val="ECF1F8"/>
          </a:solidFill>
          <a:ln w="12700">
            <a:solidFill>
              <a:srgbClr val="14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27048"/>
            <a:ext cx="4663440" cy="365760"/>
          </a:xfrm>
          <a:prstGeom prst="rect">
            <a:avLst/>
          </a:prstGeom>
          <a:noFill/>
        </p:spPr>
        <p:txBody>
          <a:bodyPr wrap="square" lIns="45720" rIns="45720" tIns="18288" bIns="18288" anchor="t">
            <a:spAutoFit/>
          </a:bodyPr>
          <a:lstStyle/>
          <a:p>
            <a:pPr algn="l">
              <a:lnSpc>
                <a:spcPct val="115000"/>
              </a:lnSpc>
            </a:pPr>
            <a:r>
              <a:rPr sz="1600" b="1" i="0">
                <a:solidFill>
                  <a:srgbClr val="142A55"/>
                </a:solidFill>
                <a:latin typeface="Calibri"/>
              </a:rPr>
              <a:t>Headline CPI model</a:t>
            </a:r>
          </a:p>
        </p:txBody>
      </p:sp>
      <p:sp>
        <p:nvSpPr>
          <p:cNvPr id="11" name="TextBox 10"/>
          <p:cNvSpPr txBox="1"/>
          <p:nvPr/>
        </p:nvSpPr>
        <p:spPr>
          <a:xfrm>
            <a:off x="685800" y="1920240"/>
            <a:ext cx="4663440" cy="2286000"/>
          </a:xfrm>
          <a:prstGeom prst="rect">
            <a:avLst/>
          </a:prstGeom>
          <a:noFill/>
        </p:spPr>
        <p:txBody>
          <a:bodyPr wrap="square" lIns="45720" rIns="45720" tIns="18288" bIns="18288" anchor="t">
            <a:spAutoFit/>
          </a:bodyPr>
          <a:lstStyle/>
          <a:p>
            <a:pPr algn="l">
              <a:lnSpc>
                <a:spcPct val="118000"/>
              </a:lnSpc>
              <a:spcAft>
                <a:spcPts val="800"/>
              </a:spcAft>
            </a:pPr>
            <a:r>
              <a:rPr sz="1400" b="1" i="0">
                <a:solidFill>
                  <a:srgbClr val="4B5563"/>
                </a:solidFill>
                <a:latin typeface="Calibri"/>
              </a:rPr>
              <a:t>Sample: </a:t>
            </a:r>
            <a:r>
              <a:rPr sz="1400" b="0" i="0">
                <a:solidFill>
                  <a:srgbClr val="1F2937"/>
                </a:solidFill>
                <a:latin typeface="Calibri"/>
              </a:rPr>
              <a:t>2004-08 to 2024-12  (N = 245)</a:t>
            </a:r>
          </a:p>
          <a:p>
            <a:pPr algn="l">
              <a:lnSpc>
                <a:spcPct val="118000"/>
              </a:lnSpc>
              <a:spcAft>
                <a:spcPts val="600"/>
              </a:spcAft>
            </a:pPr>
            <a:r>
              <a:rPr sz="1400" b="0" i="0">
                <a:solidFill>
                  <a:srgbClr val="4B5563"/>
                </a:solidFill>
                <a:latin typeface="Calibri"/>
              </a:rPr>
              <a:t>CPT⁺ = </a:t>
            </a:r>
            <a:r>
              <a:rPr sz="2200" b="1" i="0">
                <a:solidFill>
                  <a:srgbClr val="475569"/>
                </a:solidFill>
                <a:latin typeface="Calibri"/>
              </a:rPr>
              <a:t>0.0213</a:t>
            </a:r>
            <a:r>
              <a:rPr sz="1400" b="0" i="0">
                <a:solidFill>
                  <a:srgbClr val="1F2937"/>
                </a:solidFill>
                <a:latin typeface="Calibri"/>
              </a:rPr>
              <a:t>    p = 0.1220</a:t>
            </a:r>
          </a:p>
          <a:p>
            <a:pPr algn="l">
              <a:lnSpc>
                <a:spcPct val="118000"/>
              </a:lnSpc>
              <a:spcAft>
                <a:spcPts val="600"/>
              </a:spcAft>
            </a:pPr>
            <a:r>
              <a:rPr sz="1400" b="0" i="0">
                <a:solidFill>
                  <a:srgbClr val="4B5563"/>
                </a:solidFill>
                <a:latin typeface="Calibri"/>
              </a:rPr>
              <a:t>CPT⁻ = </a:t>
            </a:r>
            <a:r>
              <a:rPr sz="2200" b="1" i="0">
                <a:solidFill>
                  <a:srgbClr val="475569"/>
                </a:solidFill>
                <a:latin typeface="Calibri"/>
              </a:rPr>
              <a:t>0.0006</a:t>
            </a:r>
            <a:r>
              <a:rPr sz="1400" b="0" i="0">
                <a:solidFill>
                  <a:srgbClr val="1F2937"/>
                </a:solidFill>
                <a:latin typeface="Calibri"/>
              </a:rPr>
              <a:t>    p = 0.9375</a:t>
            </a:r>
          </a:p>
          <a:p>
            <a:pPr algn="l">
              <a:lnSpc>
                <a:spcPct val="118000"/>
              </a:lnSpc>
            </a:pPr>
            <a:r>
              <a:rPr sz="1400" b="0" i="0">
                <a:solidFill>
                  <a:srgbClr val="1F2937"/>
                </a:solidFill>
                <a:latin typeface="Calibri"/>
              </a:rPr>
              <a:t>Asymmetry p = 0.2408</a:t>
            </a:r>
          </a:p>
        </p:txBody>
      </p:sp>
      <p:sp>
        <p:nvSpPr>
          <p:cNvPr id="12" name="TextBox 11"/>
          <p:cNvSpPr txBox="1"/>
          <p:nvPr/>
        </p:nvSpPr>
        <p:spPr>
          <a:xfrm>
            <a:off x="685800" y="4251960"/>
            <a:ext cx="4663440" cy="365760"/>
          </a:xfrm>
          <a:prstGeom prst="rect">
            <a:avLst/>
          </a:prstGeom>
          <a:noFill/>
        </p:spPr>
        <p:txBody>
          <a:bodyPr wrap="square" lIns="45720" rIns="45720" tIns="18288" bIns="18288" anchor="t">
            <a:spAutoFit/>
          </a:bodyPr>
          <a:lstStyle/>
          <a:p>
            <a:pPr algn="l">
              <a:lnSpc>
                <a:spcPct val="115000"/>
              </a:lnSpc>
            </a:pPr>
            <a:r>
              <a:rPr sz="1400" b="1" i="0">
                <a:solidFill>
                  <a:srgbClr val="B31B1B"/>
                </a:solidFill>
                <a:latin typeface="Calibri"/>
              </a:rPr>
              <a:t>Reading</a:t>
            </a:r>
          </a:p>
        </p:txBody>
      </p:sp>
      <p:sp>
        <p:nvSpPr>
          <p:cNvPr id="13" name="TextBox 12"/>
          <p:cNvSpPr txBox="1"/>
          <p:nvPr/>
        </p:nvSpPr>
        <p:spPr>
          <a:xfrm>
            <a:off x="685800" y="4572000"/>
            <a:ext cx="4663440" cy="1234440"/>
          </a:xfrm>
          <a:prstGeom prst="rect">
            <a:avLst/>
          </a:prstGeom>
          <a:noFill/>
        </p:spPr>
        <p:txBody>
          <a:bodyPr wrap="square" lIns="45720" rIns="45720" tIns="18288" bIns="18288" anchor="t">
            <a:spAutoFit/>
          </a:bodyPr>
          <a:lstStyle/>
          <a:p>
            <a:pPr algn="l">
              <a:lnSpc>
                <a:spcPct val="118000"/>
              </a:lnSpc>
              <a:spcAft>
                <a:spcPts val="400"/>
              </a:spcAft>
            </a:pPr>
            <a:r>
              <a:rPr sz="1400" b="1" i="0">
                <a:solidFill>
                  <a:srgbClr val="B31B1B"/>
                </a:solidFill>
                <a:latin typeface="Calibri"/>
              </a:rPr>
              <a:t>▪  </a:t>
            </a:r>
            <a:r>
              <a:rPr sz="1400" b="0" i="0">
                <a:solidFill>
                  <a:srgbClr val="1F2937"/>
                </a:solidFill>
                <a:latin typeface="Calibri"/>
              </a:rPr>
              <a:t>Positive CPT⁺ has the expected sign but is not significant.</a:t>
            </a:r>
          </a:p>
          <a:p>
            <a:pPr algn="l">
              <a:lnSpc>
                <a:spcPct val="118000"/>
              </a:lnSpc>
              <a:spcAft>
                <a:spcPts val="400"/>
              </a:spcAft>
            </a:pPr>
            <a:r>
              <a:rPr sz="1400" b="1" i="0">
                <a:solidFill>
                  <a:srgbClr val="B31B1B"/>
                </a:solidFill>
                <a:latin typeface="Calibri"/>
              </a:rPr>
              <a:t>▪  </a:t>
            </a:r>
            <a:r>
              <a:rPr sz="1400" b="0" i="0">
                <a:solidFill>
                  <a:srgbClr val="1F2937"/>
                </a:solidFill>
                <a:latin typeface="Calibri"/>
              </a:rPr>
              <a:t>Headline CPI is broad and food-heavy; fuel weight is limited.</a:t>
            </a:r>
          </a:p>
          <a:p>
            <a:pPr algn="l">
              <a:lnSpc>
                <a:spcPct val="118000"/>
              </a:lnSpc>
              <a:spcAft>
                <a:spcPts val="400"/>
              </a:spcAft>
            </a:pPr>
            <a:r>
              <a:rPr sz="1400" b="1" i="0">
                <a:solidFill>
                  <a:srgbClr val="B31B1B"/>
                </a:solidFill>
                <a:latin typeface="Calibri"/>
              </a:rPr>
              <a:t>▪  </a:t>
            </a:r>
            <a:r>
              <a:rPr sz="1400" b="0" i="0">
                <a:solidFill>
                  <a:srgbClr val="1F2937"/>
                </a:solidFill>
                <a:latin typeface="Calibri"/>
              </a:rPr>
              <a:t>Taxes, margins, and policy can absorb part of the shock.</a:t>
            </a:r>
          </a:p>
          <a:p>
            <a:pPr algn="l">
              <a:lnSpc>
                <a:spcPct val="118000"/>
              </a:lnSpc>
              <a:spcAft>
                <a:spcPts val="400"/>
              </a:spcAft>
            </a:pPr>
            <a:r>
              <a:rPr sz="1400" b="1" i="0">
                <a:solidFill>
                  <a:srgbClr val="B31B1B"/>
                </a:solidFill>
                <a:latin typeface="Calibri"/>
              </a:rPr>
              <a:t>▪  </a:t>
            </a:r>
            <a:r>
              <a:rPr sz="1400" b="0" i="0">
                <a:solidFill>
                  <a:srgbClr val="1F2937"/>
                </a:solidFill>
                <a:latin typeface="Calibri"/>
              </a:rPr>
              <a:t>This is attenuation, not absence.</a:t>
            </a:r>
          </a:p>
        </p:txBody>
      </p:sp>
      <p:pic>
        <p:nvPicPr>
          <p:cNvPr id="14" name="Picture 13" descr="fig_13_dilution_chain.png"/>
          <p:cNvPicPr>
            <a:picLocks noChangeAspect="1"/>
          </p:cNvPicPr>
          <p:nvPr/>
        </p:nvPicPr>
        <p:blipFill>
          <a:blip r:embed="rId2"/>
          <a:stretch>
            <a:fillRect/>
          </a:stretch>
        </p:blipFill>
        <p:spPr>
          <a:xfrm>
            <a:off x="5806440" y="1664299"/>
            <a:ext cx="5882335" cy="3529401"/>
          </a:xfrm>
          <a:prstGeom prst="rect">
            <a:avLst/>
          </a:prstGeom>
        </p:spPr>
      </p:pic>
      <p:sp>
        <p:nvSpPr>
          <p:cNvPr id="15" name="TextBox 14"/>
          <p:cNvSpPr txBox="1"/>
          <p:nvPr/>
        </p:nvSpPr>
        <p:spPr>
          <a:xfrm>
            <a:off x="5806440" y="5486400"/>
            <a:ext cx="5882335" cy="365760"/>
          </a:xfrm>
          <a:prstGeom prst="rect">
            <a:avLst/>
          </a:prstGeom>
          <a:noFill/>
        </p:spPr>
        <p:txBody>
          <a:bodyPr wrap="square" lIns="45720" rIns="45720" tIns="18288" bIns="18288" anchor="t">
            <a:spAutoFit/>
          </a:bodyPr>
          <a:lstStyle/>
          <a:p>
            <a:pPr algn="ctr">
              <a:lnSpc>
                <a:spcPct val="115000"/>
              </a:lnSpc>
            </a:pPr>
            <a:r>
              <a:rPr sz="1100" b="0" i="1">
                <a:solidFill>
                  <a:srgbClr val="4B5563"/>
                </a:solidFill>
                <a:latin typeface="Calibri"/>
              </a:rPr>
              <a:t>Cumulative positive pass-through across the consumer-price chain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411480"/>
            <a:ext cx="11185855" cy="777240"/>
          </a:xfrm>
          <a:prstGeom prst="rect">
            <a:avLst/>
          </a:prstGeom>
          <a:noFill/>
        </p:spPr>
        <p:txBody>
          <a:bodyPr wrap="square" lIns="45720" rIns="45720" tIns="18288" bIns="18288" anchor="t">
            <a:spAutoFit/>
          </a:bodyPr>
          <a:lstStyle/>
          <a:p>
            <a:pPr algn="l">
              <a:lnSpc>
                <a:spcPct val="115000"/>
              </a:lnSpc>
            </a:pPr>
            <a:r>
              <a:rPr sz="3000" b="1" i="0">
                <a:solidFill>
                  <a:srgbClr val="142A55"/>
                </a:solidFill>
                <a:latin typeface="Calibri"/>
              </a:rPr>
              <a:t>Attenuation across the consumer chain</a:t>
            </a:r>
          </a:p>
        </p:txBody>
      </p:sp>
      <p:sp>
        <p:nvSpPr>
          <p:cNvPr id="4" name="Rectangle 3"/>
          <p:cNvSpPr/>
          <p:nvPr/>
        </p:nvSpPr>
        <p:spPr>
          <a:xfrm>
            <a:off x="502920" y="1207008"/>
            <a:ext cx="1097280" cy="36576"/>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600200" y="1207008"/>
            <a:ext cx="1008857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02920" y="6400800"/>
            <a:ext cx="11185855"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02920" y="6446520"/>
            <a:ext cx="10271455" cy="292608"/>
          </a:xfrm>
          <a:prstGeom prst="rect">
            <a:avLst/>
          </a:prstGeom>
          <a:noFill/>
        </p:spPr>
        <p:txBody>
          <a:bodyPr wrap="square" lIns="45720" rIns="45720" tIns="18288" bIns="18288" anchor="t">
            <a:spAutoFit/>
          </a:bodyPr>
          <a:lstStyle/>
          <a:p>
            <a:pPr algn="l">
              <a:lnSpc>
                <a:spcPct val="115000"/>
              </a:lnSpc>
            </a:pPr>
            <a:r>
              <a:rPr sz="900" b="0" i="0">
                <a:solidFill>
                  <a:srgbClr val="4B5563"/>
                </a:solidFill>
                <a:latin typeface="Calibri"/>
              </a:rPr>
              <a:t>Layered oil-price pass-through in India  |  Aniket Pandey, B.Tech + MS Economics</a:t>
            </a:r>
          </a:p>
        </p:txBody>
      </p:sp>
      <p:sp>
        <p:nvSpPr>
          <p:cNvPr id="8" name="TextBox 7"/>
          <p:cNvSpPr txBox="1"/>
          <p:nvPr/>
        </p:nvSpPr>
        <p:spPr>
          <a:xfrm>
            <a:off x="10591495" y="6446520"/>
            <a:ext cx="1097280" cy="292608"/>
          </a:xfrm>
          <a:prstGeom prst="rect">
            <a:avLst/>
          </a:prstGeom>
          <a:noFill/>
        </p:spPr>
        <p:txBody>
          <a:bodyPr wrap="square" lIns="45720" rIns="45720" tIns="18288" bIns="18288" anchor="t">
            <a:spAutoFit/>
          </a:bodyPr>
          <a:lstStyle/>
          <a:p>
            <a:pPr algn="r">
              <a:lnSpc>
                <a:spcPct val="115000"/>
              </a:lnSpc>
            </a:pPr>
            <a:r>
              <a:rPr sz="900" b="0" i="0">
                <a:solidFill>
                  <a:srgbClr val="4B5563"/>
                </a:solidFill>
                <a:latin typeface="Calibri"/>
              </a:rPr>
              <a:t>Slide 9 of 11</a:t>
            </a:r>
          </a:p>
        </p:txBody>
      </p:sp>
      <p:graphicFrame>
        <p:nvGraphicFramePr>
          <p:cNvPr id="9" name="Table 8"/>
          <p:cNvGraphicFramePr>
            <a:graphicFrameLocks noGrp="1"/>
          </p:cNvGraphicFramePr>
          <p:nvPr/>
        </p:nvGraphicFramePr>
        <p:xfrm>
          <a:off x="502920" y="1417320"/>
          <a:ext cx="6035040" cy="1920240"/>
        </p:xfrm>
        <a:graphic>
          <a:graphicData uri="http://schemas.openxmlformats.org/drawingml/2006/table">
            <a:tbl>
              <a:tblPr firstRow="1" bandRow="1">
                <a:tableStyleId>{5C22544A-7EE6-4342-B048-85BDC9FD1C3A}</a:tableStyleId>
              </a:tblPr>
              <a:tblGrid>
                <a:gridCol w="1280160"/>
                <a:gridCol w="3108960"/>
                <a:gridCol w="914400"/>
                <a:gridCol w="731520"/>
              </a:tblGrid>
              <a:tr h="480060">
                <a:tc>
                  <a:txBody>
                    <a:bodyPr wrap="square"/>
                    <a:lstStyle/>
                    <a:p>
                      <a:pPr algn="l">
                        <a:lnSpc>
                          <a:spcPct val="110000"/>
                        </a:lnSpc>
                      </a:pPr>
                      <a:r>
                        <a:rPr sz="1300" b="1">
                          <a:solidFill>
                            <a:srgbClr val="FFFFFF"/>
                          </a:solidFill>
                          <a:latin typeface="Calibri"/>
                        </a:rPr>
                        <a:t>Stage</a:t>
                      </a:r>
                    </a:p>
                  </a:txBody>
                  <a:tcPr marL="73152" marR="73152" marT="36576" marB="36576" anchor="ctr">
                    <a:solidFill>
                      <a:srgbClr val="142A55"/>
                    </a:solidFill>
                  </a:tcPr>
                </a:tc>
                <a:tc>
                  <a:txBody>
                    <a:bodyPr wrap="square"/>
                    <a:lstStyle/>
                    <a:p>
                      <a:pPr algn="l">
                        <a:lnSpc>
                          <a:spcPct val="110000"/>
                        </a:lnSpc>
                      </a:pPr>
                      <a:r>
                        <a:rPr sz="1300" b="1">
                          <a:solidFill>
                            <a:srgbClr val="FFFFFF"/>
                          </a:solidFill>
                          <a:latin typeface="Calibri"/>
                        </a:rPr>
                        <a:t>Relationship</a:t>
                      </a:r>
                    </a:p>
                  </a:txBody>
                  <a:tcPr marL="73152" marR="73152" marT="36576" marB="36576" anchor="ctr">
                    <a:solidFill>
                      <a:srgbClr val="142A55"/>
                    </a:solidFill>
                  </a:tcPr>
                </a:tc>
                <a:tc>
                  <a:txBody>
                    <a:bodyPr wrap="square"/>
                    <a:lstStyle/>
                    <a:p>
                      <a:pPr algn="r">
                        <a:lnSpc>
                          <a:spcPct val="110000"/>
                        </a:lnSpc>
                      </a:pPr>
                      <a:r>
                        <a:rPr sz="1300" b="1">
                          <a:solidFill>
                            <a:srgbClr val="FFFFFF"/>
                          </a:solidFill>
                          <a:latin typeface="Calibri"/>
                        </a:rPr>
                        <a:t>CPT⁺</a:t>
                      </a:r>
                    </a:p>
                  </a:txBody>
                  <a:tcPr marL="73152" marR="73152" marT="36576" marB="36576" anchor="ctr">
                    <a:solidFill>
                      <a:srgbClr val="142A55"/>
                    </a:solidFill>
                  </a:tcPr>
                </a:tc>
                <a:tc>
                  <a:txBody>
                    <a:bodyPr wrap="square"/>
                    <a:lstStyle/>
                    <a:p>
                      <a:pPr algn="r">
                        <a:lnSpc>
                          <a:spcPct val="110000"/>
                        </a:lnSpc>
                      </a:pPr>
                      <a:r>
                        <a:rPr sz="1300" b="1">
                          <a:solidFill>
                            <a:srgbClr val="FFFFFF"/>
                          </a:solidFill>
                          <a:latin typeface="Calibri"/>
                        </a:rPr>
                        <a:t>p</a:t>
                      </a:r>
                    </a:p>
                  </a:txBody>
                  <a:tcPr marL="73152" marR="73152" marT="36576" marB="36576" anchor="ctr">
                    <a:solidFill>
                      <a:srgbClr val="142A55"/>
                    </a:solidFill>
                  </a:tcPr>
                </a:tc>
              </a:tr>
              <a:tr h="480060">
                <a:tc>
                  <a:txBody>
                    <a:bodyPr wrap="square"/>
                    <a:lstStyle/>
                    <a:p>
                      <a:pPr algn="l">
                        <a:lnSpc>
                          <a:spcPct val="110000"/>
                        </a:lnSpc>
                      </a:pPr>
                      <a:r>
                        <a:rPr sz="1300" b="1">
                          <a:solidFill>
                            <a:srgbClr val="1F2937"/>
                          </a:solidFill>
                          <a:latin typeface="Calibri"/>
                        </a:rPr>
                        <a:t>Stage 1</a:t>
                      </a:r>
                    </a:p>
                  </a:txBody>
                  <a:tcPr marL="73152" marR="73152" marT="36576" marB="36576" anchor="ctr">
                    <a:solidFill>
                      <a:srgbClr val="FFFFFF"/>
                    </a:solidFill>
                  </a:tcPr>
                </a:tc>
                <a:tc>
                  <a:txBody>
                    <a:bodyPr wrap="square"/>
                    <a:lstStyle/>
                    <a:p>
                      <a:pPr algn="l">
                        <a:lnSpc>
                          <a:spcPct val="110000"/>
                        </a:lnSpc>
                      </a:pPr>
                      <a:r>
                        <a:rPr sz="1300" b="0">
                          <a:solidFill>
                            <a:srgbClr val="1F2937"/>
                          </a:solidFill>
                          <a:latin typeface="Calibri"/>
                        </a:rPr>
                        <a:t>Brent → PPAC retail petrol</a:t>
                      </a:r>
                    </a:p>
                  </a:txBody>
                  <a:tcPr marL="73152" marR="73152" marT="36576" marB="36576" anchor="ctr">
                    <a:solidFill>
                      <a:srgbClr val="FFFFFF"/>
                    </a:solidFill>
                  </a:tcPr>
                </a:tc>
                <a:tc>
                  <a:txBody>
                    <a:bodyPr wrap="square"/>
                    <a:lstStyle/>
                    <a:p>
                      <a:pPr algn="r">
                        <a:lnSpc>
                          <a:spcPct val="110000"/>
                        </a:lnSpc>
                      </a:pPr>
                      <a:r>
                        <a:rPr sz="1300" b="1">
                          <a:solidFill>
                            <a:srgbClr val="B31B1B"/>
                          </a:solidFill>
                          <a:latin typeface="Calibri"/>
                        </a:rPr>
                        <a:t>0.4007</a:t>
                      </a:r>
                    </a:p>
                  </a:txBody>
                  <a:tcPr marL="73152" marR="73152" marT="36576" marB="36576" anchor="ctr">
                    <a:solidFill>
                      <a:srgbClr val="FFFFFF"/>
                    </a:solidFill>
                  </a:tcPr>
                </a:tc>
                <a:tc>
                  <a:txBody>
                    <a:bodyPr wrap="square"/>
                    <a:lstStyle/>
                    <a:p>
                      <a:pPr algn="r">
                        <a:lnSpc>
                          <a:spcPct val="110000"/>
                        </a:lnSpc>
                      </a:pPr>
                      <a:r>
                        <a:rPr sz="1300" b="0">
                          <a:solidFill>
                            <a:srgbClr val="B31B1B"/>
                          </a:solidFill>
                          <a:latin typeface="Calibri"/>
                        </a:rPr>
                        <a:t>0.0001</a:t>
                      </a:r>
                    </a:p>
                  </a:txBody>
                  <a:tcPr marL="73152" marR="73152" marT="36576" marB="36576" anchor="ctr">
                    <a:solidFill>
                      <a:srgbClr val="FFFFFF"/>
                    </a:solidFill>
                  </a:tcPr>
                </a:tc>
              </a:tr>
              <a:tr h="480060">
                <a:tc>
                  <a:txBody>
                    <a:bodyPr wrap="square"/>
                    <a:lstStyle/>
                    <a:p>
                      <a:pPr algn="l">
                        <a:lnSpc>
                          <a:spcPct val="110000"/>
                        </a:lnSpc>
                      </a:pPr>
                      <a:r>
                        <a:rPr sz="1300" b="1">
                          <a:solidFill>
                            <a:srgbClr val="1F2937"/>
                          </a:solidFill>
                          <a:latin typeface="Calibri"/>
                        </a:rPr>
                        <a:t>Stage 2</a:t>
                      </a:r>
                    </a:p>
                  </a:txBody>
                  <a:tcPr marL="73152" marR="73152" marT="36576" marB="36576" anchor="ctr">
                    <a:solidFill>
                      <a:srgbClr val="F3F4F6"/>
                    </a:solidFill>
                  </a:tcPr>
                </a:tc>
                <a:tc>
                  <a:txBody>
                    <a:bodyPr wrap="square"/>
                    <a:lstStyle/>
                    <a:p>
                      <a:pPr algn="l">
                        <a:lnSpc>
                          <a:spcPct val="110000"/>
                        </a:lnSpc>
                      </a:pPr>
                      <a:r>
                        <a:rPr sz="1300" b="0">
                          <a:solidFill>
                            <a:srgbClr val="1F2937"/>
                          </a:solidFill>
                          <a:latin typeface="Calibri"/>
                        </a:rPr>
                        <a:t>PPAC petrol → CPI Fuel and Light</a:t>
                      </a:r>
                    </a:p>
                  </a:txBody>
                  <a:tcPr marL="73152" marR="73152" marT="36576" marB="36576" anchor="ctr">
                    <a:solidFill>
                      <a:srgbClr val="F3F4F6"/>
                    </a:solidFill>
                  </a:tcPr>
                </a:tc>
                <a:tc>
                  <a:txBody>
                    <a:bodyPr wrap="square"/>
                    <a:lstStyle/>
                    <a:p>
                      <a:pPr algn="r">
                        <a:lnSpc>
                          <a:spcPct val="110000"/>
                        </a:lnSpc>
                      </a:pPr>
                      <a:r>
                        <a:rPr sz="1300" b="1">
                          <a:solidFill>
                            <a:srgbClr val="C2760C"/>
                          </a:solidFill>
                          <a:latin typeface="Calibri"/>
                        </a:rPr>
                        <a:t>0.1777</a:t>
                      </a:r>
                    </a:p>
                  </a:txBody>
                  <a:tcPr marL="73152" marR="73152" marT="36576" marB="36576" anchor="ctr">
                    <a:solidFill>
                      <a:srgbClr val="F3F4F6"/>
                    </a:solidFill>
                  </a:tcPr>
                </a:tc>
                <a:tc>
                  <a:txBody>
                    <a:bodyPr wrap="square"/>
                    <a:lstStyle/>
                    <a:p>
                      <a:pPr algn="r">
                        <a:lnSpc>
                          <a:spcPct val="110000"/>
                        </a:lnSpc>
                      </a:pPr>
                      <a:r>
                        <a:rPr sz="1300" b="0">
                          <a:solidFill>
                            <a:srgbClr val="C2760C"/>
                          </a:solidFill>
                          <a:latin typeface="Calibri"/>
                        </a:rPr>
                        <a:t>0.0021</a:t>
                      </a:r>
                    </a:p>
                  </a:txBody>
                  <a:tcPr marL="73152" marR="73152" marT="36576" marB="36576" anchor="ctr">
                    <a:solidFill>
                      <a:srgbClr val="F3F4F6"/>
                    </a:solidFill>
                  </a:tcPr>
                </a:tc>
              </a:tr>
              <a:tr h="480060">
                <a:tc>
                  <a:txBody>
                    <a:bodyPr wrap="square"/>
                    <a:lstStyle/>
                    <a:p>
                      <a:pPr algn="l">
                        <a:lnSpc>
                          <a:spcPct val="110000"/>
                        </a:lnSpc>
                      </a:pPr>
                      <a:r>
                        <a:rPr sz="1300" b="1">
                          <a:solidFill>
                            <a:srgbClr val="1F2937"/>
                          </a:solidFill>
                          <a:latin typeface="Calibri"/>
                        </a:rPr>
                        <a:t>Stage 3</a:t>
                      </a:r>
                    </a:p>
                  </a:txBody>
                  <a:tcPr marL="73152" marR="73152" marT="36576" marB="36576" anchor="ctr">
                    <a:solidFill>
                      <a:srgbClr val="FFFFFF"/>
                    </a:solidFill>
                  </a:tcPr>
                </a:tc>
                <a:tc>
                  <a:txBody>
                    <a:bodyPr wrap="square"/>
                    <a:lstStyle/>
                    <a:p>
                      <a:pPr algn="l">
                        <a:lnSpc>
                          <a:spcPct val="110000"/>
                        </a:lnSpc>
                      </a:pPr>
                      <a:r>
                        <a:rPr sz="1300" b="0">
                          <a:solidFill>
                            <a:srgbClr val="1F2937"/>
                          </a:solidFill>
                          <a:latin typeface="Calibri"/>
                        </a:rPr>
                        <a:t>Rupee oil → Headline CPI</a:t>
                      </a:r>
                    </a:p>
                  </a:txBody>
                  <a:tcPr marL="73152" marR="73152" marT="36576" marB="36576" anchor="ctr">
                    <a:solidFill>
                      <a:srgbClr val="FFFFFF"/>
                    </a:solidFill>
                  </a:tcPr>
                </a:tc>
                <a:tc>
                  <a:txBody>
                    <a:bodyPr wrap="square"/>
                    <a:lstStyle/>
                    <a:p>
                      <a:pPr algn="r">
                        <a:lnSpc>
                          <a:spcPct val="110000"/>
                        </a:lnSpc>
                      </a:pPr>
                      <a:r>
                        <a:rPr sz="1300" b="1">
                          <a:solidFill>
                            <a:srgbClr val="475569"/>
                          </a:solidFill>
                          <a:latin typeface="Calibri"/>
                        </a:rPr>
                        <a:t>0.0064</a:t>
                      </a:r>
                    </a:p>
                  </a:txBody>
                  <a:tcPr marL="73152" marR="73152" marT="36576" marB="36576" anchor="ctr">
                    <a:solidFill>
                      <a:srgbClr val="FFFFFF"/>
                    </a:solidFill>
                  </a:tcPr>
                </a:tc>
                <a:tc>
                  <a:txBody>
                    <a:bodyPr wrap="square"/>
                    <a:lstStyle/>
                    <a:p>
                      <a:pPr algn="r">
                        <a:lnSpc>
                          <a:spcPct val="110000"/>
                        </a:lnSpc>
                      </a:pPr>
                      <a:r>
                        <a:rPr sz="1300" b="0">
                          <a:solidFill>
                            <a:srgbClr val="475569"/>
                          </a:solidFill>
                          <a:latin typeface="Calibri"/>
                        </a:rPr>
                        <a:t>0.6355</a:t>
                      </a:r>
                    </a:p>
                  </a:txBody>
                  <a:tcPr marL="73152" marR="73152" marT="36576" marB="36576" anchor="ctr">
                    <a:solidFill>
                      <a:srgbClr val="FFFFFF"/>
                    </a:solidFill>
                  </a:tcPr>
                </a:tc>
              </a:tr>
            </a:tbl>
          </a:graphicData>
        </a:graphic>
      </p:graphicFrame>
      <p:sp>
        <p:nvSpPr>
          <p:cNvPr id="10" name="Rounded Rectangle 9"/>
          <p:cNvSpPr/>
          <p:nvPr/>
        </p:nvSpPr>
        <p:spPr>
          <a:xfrm>
            <a:off x="502920" y="3611880"/>
            <a:ext cx="6035040" cy="2240280"/>
          </a:xfrm>
          <a:prstGeom prst="roundRect">
            <a:avLst>
              <a:gd name="adj" fmla="val 8000"/>
            </a:avLst>
          </a:prstGeom>
          <a:solidFill>
            <a:srgbClr val="ECF1F8"/>
          </a:solidFill>
          <a:ln w="12700">
            <a:solidFill>
              <a:srgbClr val="14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3721608"/>
            <a:ext cx="5577840" cy="365760"/>
          </a:xfrm>
          <a:prstGeom prst="rect">
            <a:avLst/>
          </a:prstGeom>
          <a:noFill/>
        </p:spPr>
        <p:txBody>
          <a:bodyPr wrap="square" lIns="45720" rIns="45720" tIns="18288" bIns="18288" anchor="t">
            <a:spAutoFit/>
          </a:bodyPr>
          <a:lstStyle/>
          <a:p>
            <a:pPr algn="l">
              <a:lnSpc>
                <a:spcPct val="115000"/>
              </a:lnSpc>
            </a:pPr>
            <a:r>
              <a:rPr sz="1500" b="1" i="0">
                <a:solidFill>
                  <a:srgbClr val="142A55"/>
                </a:solidFill>
                <a:latin typeface="Calibri"/>
              </a:rPr>
              <a:t>Pass-through shrinks across stages</a:t>
            </a:r>
          </a:p>
        </p:txBody>
      </p:sp>
      <p:sp>
        <p:nvSpPr>
          <p:cNvPr id="12" name="TextBox 11"/>
          <p:cNvSpPr txBox="1"/>
          <p:nvPr/>
        </p:nvSpPr>
        <p:spPr>
          <a:xfrm>
            <a:off x="731520" y="4114800"/>
            <a:ext cx="5577840" cy="1691640"/>
          </a:xfrm>
          <a:prstGeom prst="rect">
            <a:avLst/>
          </a:prstGeom>
          <a:noFill/>
        </p:spPr>
        <p:txBody>
          <a:bodyPr wrap="square" lIns="45720" rIns="45720" tIns="18288" bIns="18288" anchor="t">
            <a:spAutoFit/>
          </a:bodyPr>
          <a:lstStyle/>
          <a:p>
            <a:pPr algn="l">
              <a:lnSpc>
                <a:spcPct val="118000"/>
              </a:lnSpc>
              <a:spcAft>
                <a:spcPts val="800"/>
              </a:spcAft>
            </a:pPr>
            <a:r>
              <a:rPr sz="1500" b="0" i="0">
                <a:solidFill>
                  <a:srgbClr val="4B5563"/>
                </a:solidFill>
                <a:latin typeface="Calibri"/>
              </a:rPr>
              <a:t>Stage 1 vs Stage 3 ratio:  </a:t>
            </a:r>
            <a:r>
              <a:rPr sz="1600" b="0" i="0">
                <a:solidFill>
                  <a:srgbClr val="1F2937"/>
                </a:solidFill>
                <a:latin typeface="Calibri"/>
              </a:rPr>
              <a:t>0.40 / 0.006 ≈ </a:t>
            </a:r>
            <a:r>
              <a:rPr sz="1800" b="1" i="0">
                <a:solidFill>
                  <a:srgbClr val="B31B1B"/>
                </a:solidFill>
                <a:latin typeface="Calibri"/>
              </a:rPr>
              <a:t>63× smaller</a:t>
            </a:r>
          </a:p>
          <a:p>
            <a:pPr algn="l">
              <a:lnSpc>
                <a:spcPct val="118000"/>
              </a:lnSpc>
              <a:spcAft>
                <a:spcPts val="600"/>
              </a:spcAft>
            </a:pPr>
            <a:r>
              <a:rPr sz="1500" b="0" i="0">
                <a:solidFill>
                  <a:srgbClr val="4B5563"/>
                </a:solidFill>
                <a:latin typeface="Calibri"/>
              </a:rPr>
              <a:t>Coefficient-equality test (Stage 1 = Stage 3):  </a:t>
            </a:r>
            <a:r>
              <a:rPr sz="1600" b="1" i="0">
                <a:solidFill>
                  <a:srgbClr val="B31B1B"/>
                </a:solidFill>
                <a:latin typeface="Calibri"/>
              </a:rPr>
              <a:t>F = 14.35,  p = 0.0002</a:t>
            </a:r>
          </a:p>
          <a:p>
            <a:pPr algn="l">
              <a:lnSpc>
                <a:spcPct val="118000"/>
              </a:lnSpc>
            </a:pPr>
            <a:r>
              <a:rPr sz="1400" b="0" i="0">
                <a:solidFill>
                  <a:srgbClr val="1F2937"/>
                </a:solidFill>
                <a:latin typeface="Calibri"/>
              </a:rPr>
              <a:t>Equality is rejected; the headline-CPI response is significantly smaller than the upstream retail-petrol response.</a:t>
            </a:r>
          </a:p>
        </p:txBody>
      </p:sp>
      <p:pic>
        <p:nvPicPr>
          <p:cNvPr id="13" name="Picture 12" descr="fig_13b_dilution_common_sample.png"/>
          <p:cNvPicPr>
            <a:picLocks noChangeAspect="1"/>
          </p:cNvPicPr>
          <p:nvPr/>
        </p:nvPicPr>
        <p:blipFill>
          <a:blip r:embed="rId2"/>
          <a:stretch>
            <a:fillRect/>
          </a:stretch>
        </p:blipFill>
        <p:spPr>
          <a:xfrm>
            <a:off x="6812280" y="2171791"/>
            <a:ext cx="4876495" cy="2925897"/>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411480"/>
            <a:ext cx="11185855" cy="777240"/>
          </a:xfrm>
          <a:prstGeom prst="rect">
            <a:avLst/>
          </a:prstGeom>
          <a:noFill/>
        </p:spPr>
        <p:txBody>
          <a:bodyPr wrap="square" lIns="45720" rIns="45720" tIns="18288" bIns="18288" anchor="t">
            <a:spAutoFit/>
          </a:bodyPr>
          <a:lstStyle/>
          <a:p>
            <a:pPr algn="l">
              <a:lnSpc>
                <a:spcPct val="115000"/>
              </a:lnSpc>
            </a:pPr>
            <a:r>
              <a:rPr sz="3000" b="1" i="0">
                <a:solidFill>
                  <a:srgbClr val="142A55"/>
                </a:solidFill>
                <a:latin typeface="Calibri"/>
              </a:rPr>
              <a:t>Discussion and policy relevance</a:t>
            </a:r>
          </a:p>
        </p:txBody>
      </p:sp>
      <p:sp>
        <p:nvSpPr>
          <p:cNvPr id="4" name="Rectangle 3"/>
          <p:cNvSpPr/>
          <p:nvPr/>
        </p:nvSpPr>
        <p:spPr>
          <a:xfrm>
            <a:off x="502920" y="1207008"/>
            <a:ext cx="1097280" cy="36576"/>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600200" y="1207008"/>
            <a:ext cx="1008857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02920" y="6400800"/>
            <a:ext cx="11185855"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02920" y="6446520"/>
            <a:ext cx="10271455" cy="292608"/>
          </a:xfrm>
          <a:prstGeom prst="rect">
            <a:avLst/>
          </a:prstGeom>
          <a:noFill/>
        </p:spPr>
        <p:txBody>
          <a:bodyPr wrap="square" lIns="45720" rIns="45720" tIns="18288" bIns="18288" anchor="t">
            <a:spAutoFit/>
          </a:bodyPr>
          <a:lstStyle/>
          <a:p>
            <a:pPr algn="l">
              <a:lnSpc>
                <a:spcPct val="115000"/>
              </a:lnSpc>
            </a:pPr>
            <a:r>
              <a:rPr sz="900" b="0" i="0">
                <a:solidFill>
                  <a:srgbClr val="4B5563"/>
                </a:solidFill>
                <a:latin typeface="Calibri"/>
              </a:rPr>
              <a:t>Layered oil-price pass-through in India  |  Aniket Pandey, B.Tech + MS Economics</a:t>
            </a:r>
          </a:p>
        </p:txBody>
      </p:sp>
      <p:sp>
        <p:nvSpPr>
          <p:cNvPr id="8" name="TextBox 7"/>
          <p:cNvSpPr txBox="1"/>
          <p:nvPr/>
        </p:nvSpPr>
        <p:spPr>
          <a:xfrm>
            <a:off x="10591495" y="6446520"/>
            <a:ext cx="1097280" cy="292608"/>
          </a:xfrm>
          <a:prstGeom prst="rect">
            <a:avLst/>
          </a:prstGeom>
          <a:noFill/>
        </p:spPr>
        <p:txBody>
          <a:bodyPr wrap="square" lIns="45720" rIns="45720" tIns="18288" bIns="18288" anchor="t">
            <a:spAutoFit/>
          </a:bodyPr>
          <a:lstStyle/>
          <a:p>
            <a:pPr algn="r">
              <a:lnSpc>
                <a:spcPct val="115000"/>
              </a:lnSpc>
            </a:pPr>
            <a:r>
              <a:rPr sz="900" b="0" i="0">
                <a:solidFill>
                  <a:srgbClr val="4B5563"/>
                </a:solidFill>
                <a:latin typeface="Calibri"/>
              </a:rPr>
              <a:t>Slide 10 of 11</a:t>
            </a:r>
          </a:p>
        </p:txBody>
      </p:sp>
      <p:sp>
        <p:nvSpPr>
          <p:cNvPr id="9" name="Rounded Rectangle 8"/>
          <p:cNvSpPr/>
          <p:nvPr/>
        </p:nvSpPr>
        <p:spPr>
          <a:xfrm>
            <a:off x="502920" y="1417320"/>
            <a:ext cx="11185855" cy="822960"/>
          </a:xfrm>
          <a:prstGeom prst="roundRect">
            <a:avLst>
              <a:gd name="adj" fmla="val 8000"/>
            </a:avLst>
          </a:prstGeom>
          <a:solidFill>
            <a:srgbClr val="ECF1F8"/>
          </a:solidFill>
          <a:ln w="12700">
            <a:solidFill>
              <a:srgbClr val="14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27048"/>
            <a:ext cx="10637215" cy="594360"/>
          </a:xfrm>
          <a:prstGeom prst="rect">
            <a:avLst/>
          </a:prstGeom>
          <a:noFill/>
        </p:spPr>
        <p:txBody>
          <a:bodyPr wrap="square" lIns="45720" rIns="45720" tIns="18288" bIns="18288" anchor="ctr">
            <a:spAutoFit/>
          </a:bodyPr>
          <a:lstStyle/>
          <a:p>
            <a:pPr algn="l">
              <a:lnSpc>
                <a:spcPct val="115000"/>
              </a:lnSpc>
            </a:pPr>
            <a:r>
              <a:rPr sz="1800" b="1" i="0">
                <a:solidFill>
                  <a:srgbClr val="142A55"/>
                </a:solidFill>
                <a:latin typeface="Calibri"/>
              </a:rPr>
              <a:t>Pass-through falls sharply: retail petrol 0.4007 → CPI Fuel 0.1777 → headline CPI 0.0064.</a:t>
            </a:r>
          </a:p>
        </p:txBody>
      </p:sp>
      <p:sp>
        <p:nvSpPr>
          <p:cNvPr id="11" name="Rounded Rectangle 10"/>
          <p:cNvSpPr/>
          <p:nvPr/>
        </p:nvSpPr>
        <p:spPr>
          <a:xfrm>
            <a:off x="502920" y="2468880"/>
            <a:ext cx="5455767" cy="3611880"/>
          </a:xfrm>
          <a:prstGeom prst="roundRect">
            <a:avLst>
              <a:gd name="adj" fmla="val 8000"/>
            </a:avLst>
          </a:prstGeom>
          <a:solidFill>
            <a:srgbClr val="FFFFFF"/>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606040"/>
            <a:ext cx="4998567" cy="365760"/>
          </a:xfrm>
          <a:prstGeom prst="rect">
            <a:avLst/>
          </a:prstGeom>
          <a:noFill/>
        </p:spPr>
        <p:txBody>
          <a:bodyPr wrap="square" lIns="45720" rIns="45720" tIns="18288" bIns="18288" anchor="t">
            <a:spAutoFit/>
          </a:bodyPr>
          <a:lstStyle/>
          <a:p>
            <a:pPr algn="l">
              <a:lnSpc>
                <a:spcPct val="115000"/>
              </a:lnSpc>
            </a:pPr>
            <a:r>
              <a:rPr sz="1500" b="1" i="0">
                <a:solidFill>
                  <a:srgbClr val="142A55"/>
                </a:solidFill>
                <a:latin typeface="Calibri"/>
              </a:rPr>
              <a:t>What the results mean</a:t>
            </a:r>
          </a:p>
        </p:txBody>
      </p:sp>
      <p:sp>
        <p:nvSpPr>
          <p:cNvPr id="13" name="TextBox 12"/>
          <p:cNvSpPr txBox="1"/>
          <p:nvPr/>
        </p:nvSpPr>
        <p:spPr>
          <a:xfrm>
            <a:off x="731520" y="3017520"/>
            <a:ext cx="4998567" cy="2971800"/>
          </a:xfrm>
          <a:prstGeom prst="rect">
            <a:avLst/>
          </a:prstGeom>
          <a:noFill/>
        </p:spPr>
        <p:txBody>
          <a:bodyPr wrap="square" lIns="45720" rIns="45720" tIns="18288" bIns="18288" anchor="t">
            <a:spAutoFit/>
          </a:bodyPr>
          <a:lstStyle/>
          <a:p>
            <a:pPr algn="l">
              <a:lnSpc>
                <a:spcPct val="118000"/>
              </a:lnSpc>
              <a:spcAft>
                <a:spcPts val="1000"/>
              </a:spcAft>
            </a:pPr>
            <a:r>
              <a:rPr sz="1500" b="1" i="0">
                <a:solidFill>
                  <a:srgbClr val="B31B1B"/>
                </a:solidFill>
                <a:latin typeface="Calibri"/>
              </a:rPr>
              <a:t>▪  </a:t>
            </a:r>
            <a:r>
              <a:rPr sz="1500" b="0" i="0">
                <a:solidFill>
                  <a:srgbClr val="1F2937"/>
                </a:solidFill>
                <a:latin typeface="Calibri"/>
              </a:rPr>
              <a:t>Oil is clearly visible in fuel prices.</a:t>
            </a:r>
          </a:p>
          <a:p>
            <a:pPr algn="l">
              <a:lnSpc>
                <a:spcPct val="118000"/>
              </a:lnSpc>
              <a:spcAft>
                <a:spcPts val="1000"/>
              </a:spcAft>
            </a:pPr>
            <a:r>
              <a:rPr sz="1500" b="1" i="0">
                <a:solidFill>
                  <a:srgbClr val="B31B1B"/>
                </a:solidFill>
                <a:latin typeface="Calibri"/>
              </a:rPr>
              <a:t>▪  </a:t>
            </a:r>
            <a:r>
              <a:rPr sz="1500" b="0" i="0">
                <a:solidFill>
                  <a:srgbClr val="1F2937"/>
                </a:solidFill>
                <a:latin typeface="Calibri"/>
              </a:rPr>
              <a:t>The CPI Fuel and Light response is smaller, but still significant.</a:t>
            </a:r>
          </a:p>
          <a:p>
            <a:pPr algn="l">
              <a:lnSpc>
                <a:spcPct val="118000"/>
              </a:lnSpc>
              <a:spcAft>
                <a:spcPts val="1000"/>
              </a:spcAft>
            </a:pPr>
            <a:r>
              <a:rPr sz="1500" b="1" i="0">
                <a:solidFill>
                  <a:srgbClr val="B31B1B"/>
                </a:solidFill>
                <a:latin typeface="Calibri"/>
              </a:rPr>
              <a:t>▪  </a:t>
            </a:r>
            <a:r>
              <a:rPr sz="1500" b="0" i="0">
                <a:solidFill>
                  <a:srgbClr val="1F2937"/>
                </a:solidFill>
                <a:latin typeface="Calibri"/>
              </a:rPr>
              <a:t>Headline CPI dilutes the oil signal across a broad basket.</a:t>
            </a:r>
          </a:p>
          <a:p>
            <a:pPr algn="l">
              <a:lnSpc>
                <a:spcPct val="118000"/>
              </a:lnSpc>
              <a:spcAft>
                <a:spcPts val="1000"/>
              </a:spcAft>
            </a:pPr>
            <a:r>
              <a:rPr sz="1500" b="1" i="0">
                <a:solidFill>
                  <a:srgbClr val="B31B1B"/>
                </a:solidFill>
                <a:latin typeface="Calibri"/>
              </a:rPr>
              <a:t>▪  </a:t>
            </a:r>
            <a:r>
              <a:rPr sz="1500" b="0" i="0">
                <a:solidFill>
                  <a:srgbClr val="1F2937"/>
                </a:solidFill>
                <a:latin typeface="Calibri"/>
              </a:rPr>
              <a:t>The main result is attenuation across layers.</a:t>
            </a:r>
          </a:p>
        </p:txBody>
      </p:sp>
      <p:sp>
        <p:nvSpPr>
          <p:cNvPr id="14" name="Rounded Rectangle 13"/>
          <p:cNvSpPr/>
          <p:nvPr/>
        </p:nvSpPr>
        <p:spPr>
          <a:xfrm>
            <a:off x="6233007" y="2468880"/>
            <a:ext cx="5455767" cy="3611880"/>
          </a:xfrm>
          <a:prstGeom prst="roundRect">
            <a:avLst>
              <a:gd name="adj" fmla="val 8000"/>
            </a:avLst>
          </a:prstGeom>
          <a:solidFill>
            <a:srgbClr val="FFFFFF"/>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1607" y="2606040"/>
            <a:ext cx="4998567" cy="365760"/>
          </a:xfrm>
          <a:prstGeom prst="rect">
            <a:avLst/>
          </a:prstGeom>
          <a:noFill/>
        </p:spPr>
        <p:txBody>
          <a:bodyPr wrap="square" lIns="45720" rIns="45720" tIns="18288" bIns="18288" anchor="t">
            <a:spAutoFit/>
          </a:bodyPr>
          <a:lstStyle/>
          <a:p>
            <a:pPr algn="l">
              <a:lnSpc>
                <a:spcPct val="115000"/>
              </a:lnSpc>
            </a:pPr>
            <a:r>
              <a:rPr sz="1500" b="1" i="0">
                <a:solidFill>
                  <a:srgbClr val="142A55"/>
                </a:solidFill>
                <a:latin typeface="Calibri"/>
              </a:rPr>
              <a:t>Policy focus</a:t>
            </a:r>
          </a:p>
        </p:txBody>
      </p:sp>
      <p:sp>
        <p:nvSpPr>
          <p:cNvPr id="16" name="TextBox 15"/>
          <p:cNvSpPr txBox="1"/>
          <p:nvPr/>
        </p:nvSpPr>
        <p:spPr>
          <a:xfrm>
            <a:off x="6461607" y="3017520"/>
            <a:ext cx="4998567" cy="2971800"/>
          </a:xfrm>
          <a:prstGeom prst="rect">
            <a:avLst/>
          </a:prstGeom>
          <a:noFill/>
        </p:spPr>
        <p:txBody>
          <a:bodyPr wrap="square" lIns="45720" rIns="45720" tIns="18288" bIns="18288" anchor="t">
            <a:spAutoFit/>
          </a:bodyPr>
          <a:lstStyle/>
          <a:p>
            <a:pPr algn="l">
              <a:lnSpc>
                <a:spcPct val="118000"/>
              </a:lnSpc>
              <a:spcAft>
                <a:spcPts val="1000"/>
              </a:spcAft>
            </a:pPr>
            <a:r>
              <a:rPr sz="1500" b="1" i="0">
                <a:solidFill>
                  <a:srgbClr val="C2760C"/>
                </a:solidFill>
                <a:latin typeface="Calibri"/>
              </a:rPr>
              <a:t>▪  </a:t>
            </a:r>
            <a:r>
              <a:rPr sz="1500" b="0" i="0">
                <a:solidFill>
                  <a:srgbClr val="1F2937"/>
                </a:solidFill>
                <a:latin typeface="Calibri"/>
              </a:rPr>
              <a:t>Do not rely only on headline CPI.</a:t>
            </a:r>
          </a:p>
          <a:p>
            <a:pPr algn="l">
              <a:lnSpc>
                <a:spcPct val="118000"/>
              </a:lnSpc>
              <a:spcAft>
                <a:spcPts val="1000"/>
              </a:spcAft>
            </a:pPr>
            <a:r>
              <a:rPr sz="1500" b="1" i="0">
                <a:solidFill>
                  <a:srgbClr val="C2760C"/>
                </a:solidFill>
                <a:latin typeface="Calibri"/>
              </a:rPr>
              <a:t>▪  </a:t>
            </a:r>
            <a:r>
              <a:rPr sz="1500" b="0" i="0">
                <a:solidFill>
                  <a:srgbClr val="1F2937"/>
                </a:solidFill>
                <a:latin typeface="Calibri"/>
              </a:rPr>
              <a:t>Track retail fuel, WPI Fuel and Power, and CPI Fuel and Light.</a:t>
            </a:r>
          </a:p>
          <a:p>
            <a:pPr algn="l">
              <a:lnSpc>
                <a:spcPct val="118000"/>
              </a:lnSpc>
              <a:spcAft>
                <a:spcPts val="1000"/>
              </a:spcAft>
            </a:pPr>
            <a:r>
              <a:rPr sz="1500" b="1" i="0">
                <a:solidFill>
                  <a:srgbClr val="C2760C"/>
                </a:solidFill>
                <a:latin typeface="Calibri"/>
              </a:rPr>
              <a:t>▪  </a:t>
            </a:r>
            <a:r>
              <a:rPr sz="1500" b="0" i="0">
                <a:solidFill>
                  <a:srgbClr val="1F2937"/>
                </a:solidFill>
                <a:latin typeface="Calibri"/>
              </a:rPr>
              <a:t>Watch transport and input costs for second-round pressure.</a:t>
            </a:r>
          </a:p>
          <a:p>
            <a:pPr algn="l">
              <a:lnSpc>
                <a:spcPct val="118000"/>
              </a:lnSpc>
              <a:spcAft>
                <a:spcPts val="1000"/>
              </a:spcAft>
            </a:pPr>
            <a:r>
              <a:rPr sz="1500" b="1" i="0">
                <a:solidFill>
                  <a:srgbClr val="C2760C"/>
                </a:solidFill>
                <a:latin typeface="Calibri"/>
              </a:rPr>
              <a:t>▪  </a:t>
            </a:r>
            <a:r>
              <a:rPr sz="1500" b="0" i="0">
                <a:solidFill>
                  <a:srgbClr val="1F2937"/>
                </a:solidFill>
                <a:latin typeface="Calibri"/>
              </a:rPr>
              <a:t>Fuel taxes and pricing choices can change pass-through.</a:t>
            </a:r>
          </a:p>
        </p:txBody>
      </p:sp>
      <p:sp>
        <p:nvSpPr>
          <p:cNvPr id="17" name="Rounded Rectangle 16"/>
          <p:cNvSpPr/>
          <p:nvPr/>
        </p:nvSpPr>
        <p:spPr>
          <a:xfrm>
            <a:off x="502920" y="5715000"/>
            <a:ext cx="11185855" cy="566928"/>
          </a:xfrm>
          <a:prstGeom prst="roundRect">
            <a:avLst>
              <a:gd name="adj" fmla="val 8000"/>
            </a:avLst>
          </a:prstGeom>
          <a:solidFill>
            <a:srgbClr val="FEF3C7"/>
          </a:solidFill>
          <a:ln w="9525">
            <a:solidFill>
              <a:srgbClr val="C276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715000"/>
            <a:ext cx="10637215" cy="566928"/>
          </a:xfrm>
          <a:prstGeom prst="rect">
            <a:avLst/>
          </a:prstGeom>
          <a:noFill/>
        </p:spPr>
        <p:txBody>
          <a:bodyPr wrap="square" lIns="45720" rIns="45720" tIns="18288" bIns="18288" anchor="ctr">
            <a:spAutoFit/>
          </a:bodyPr>
          <a:lstStyle/>
          <a:p>
            <a:pPr algn="l">
              <a:lnSpc>
                <a:spcPct val="115000"/>
              </a:lnSpc>
            </a:pPr>
            <a:r>
              <a:rPr sz="1500" b="1" i="0">
                <a:solidFill>
                  <a:srgbClr val="C2760C"/>
                </a:solidFill>
                <a:latin typeface="Calibri"/>
              </a:rPr>
              <a:t>Policy message: oil pressure can build in fuel layers before it appears in headline CPI.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02920" y="411480"/>
            <a:ext cx="11185855" cy="777240"/>
          </a:xfrm>
          <a:prstGeom prst="rect">
            <a:avLst/>
          </a:prstGeom>
          <a:noFill/>
        </p:spPr>
        <p:txBody>
          <a:bodyPr wrap="square" lIns="45720" rIns="45720" tIns="18288" bIns="18288" anchor="t">
            <a:spAutoFit/>
          </a:bodyPr>
          <a:lstStyle/>
          <a:p>
            <a:pPr algn="l">
              <a:lnSpc>
                <a:spcPct val="115000"/>
              </a:lnSpc>
            </a:pPr>
            <a:r>
              <a:rPr sz="3000" b="1" i="0">
                <a:solidFill>
                  <a:srgbClr val="142A55"/>
                </a:solidFill>
                <a:latin typeface="Calibri"/>
              </a:rPr>
              <a:t>Conclusion: oil pass-through is layered and attenuated</a:t>
            </a:r>
          </a:p>
        </p:txBody>
      </p:sp>
      <p:sp>
        <p:nvSpPr>
          <p:cNvPr id="4" name="Rectangle 3"/>
          <p:cNvSpPr/>
          <p:nvPr/>
        </p:nvSpPr>
        <p:spPr>
          <a:xfrm>
            <a:off x="502920" y="1207008"/>
            <a:ext cx="1097280" cy="36576"/>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600200" y="1207008"/>
            <a:ext cx="10088575" cy="18288"/>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502920" y="6400800"/>
            <a:ext cx="11185855" cy="9144"/>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502920" y="6446520"/>
            <a:ext cx="10271455" cy="292608"/>
          </a:xfrm>
          <a:prstGeom prst="rect">
            <a:avLst/>
          </a:prstGeom>
          <a:noFill/>
        </p:spPr>
        <p:txBody>
          <a:bodyPr wrap="square" lIns="45720" rIns="45720" tIns="18288" bIns="18288" anchor="t">
            <a:spAutoFit/>
          </a:bodyPr>
          <a:lstStyle/>
          <a:p>
            <a:pPr algn="l">
              <a:lnSpc>
                <a:spcPct val="115000"/>
              </a:lnSpc>
            </a:pPr>
            <a:r>
              <a:rPr sz="900" b="0" i="0">
                <a:solidFill>
                  <a:srgbClr val="4B5563"/>
                </a:solidFill>
                <a:latin typeface="Calibri"/>
              </a:rPr>
              <a:t>Layered oil-price pass-through in India  |  Aniket Pandey, B.Tech + MS Economics</a:t>
            </a:r>
          </a:p>
        </p:txBody>
      </p:sp>
      <p:sp>
        <p:nvSpPr>
          <p:cNvPr id="8" name="TextBox 7"/>
          <p:cNvSpPr txBox="1"/>
          <p:nvPr/>
        </p:nvSpPr>
        <p:spPr>
          <a:xfrm>
            <a:off x="10591495" y="6446520"/>
            <a:ext cx="1097280" cy="292608"/>
          </a:xfrm>
          <a:prstGeom prst="rect">
            <a:avLst/>
          </a:prstGeom>
          <a:noFill/>
        </p:spPr>
        <p:txBody>
          <a:bodyPr wrap="square" lIns="45720" rIns="45720" tIns="18288" bIns="18288" anchor="t">
            <a:spAutoFit/>
          </a:bodyPr>
          <a:lstStyle/>
          <a:p>
            <a:pPr algn="r">
              <a:lnSpc>
                <a:spcPct val="115000"/>
              </a:lnSpc>
            </a:pPr>
            <a:r>
              <a:rPr sz="900" b="0" i="0">
                <a:solidFill>
                  <a:srgbClr val="4B5563"/>
                </a:solidFill>
                <a:latin typeface="Calibri"/>
              </a:rPr>
              <a:t>Slide 11 of 11</a:t>
            </a:r>
          </a:p>
        </p:txBody>
      </p:sp>
      <p:sp>
        <p:nvSpPr>
          <p:cNvPr id="9" name="Rounded Rectangle 8"/>
          <p:cNvSpPr/>
          <p:nvPr/>
        </p:nvSpPr>
        <p:spPr>
          <a:xfrm>
            <a:off x="502920" y="1417320"/>
            <a:ext cx="11185855" cy="1005840"/>
          </a:xfrm>
          <a:prstGeom prst="roundRect">
            <a:avLst>
              <a:gd name="adj" fmla="val 8000"/>
            </a:avLst>
          </a:prstGeom>
          <a:solidFill>
            <a:srgbClr val="142A55"/>
          </a:solidFill>
          <a:ln w="9525">
            <a:solidFill>
              <a:srgbClr val="14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1508760"/>
            <a:ext cx="10637215" cy="868680"/>
          </a:xfrm>
          <a:prstGeom prst="rect">
            <a:avLst/>
          </a:prstGeom>
          <a:noFill/>
        </p:spPr>
        <p:txBody>
          <a:bodyPr wrap="square" lIns="45720" rIns="45720" tIns="18288" bIns="18288" anchor="ctr">
            <a:spAutoFit/>
          </a:bodyPr>
          <a:lstStyle/>
          <a:p>
            <a:pPr algn="l">
              <a:lnSpc>
                <a:spcPct val="115000"/>
              </a:lnSpc>
            </a:pPr>
            <a:r>
              <a:rPr sz="2000" b="1" i="1">
                <a:solidFill>
                  <a:srgbClr val="FFFFFF"/>
                </a:solidFill>
                <a:latin typeface="Calibri"/>
              </a:rPr>
              <a:t>Oil shocks matter in India, but their effect weakens across the price system.</a:t>
            </a:r>
          </a:p>
        </p:txBody>
      </p:sp>
      <p:sp>
        <p:nvSpPr>
          <p:cNvPr id="11" name="Rounded Rectangle 10"/>
          <p:cNvSpPr/>
          <p:nvPr/>
        </p:nvSpPr>
        <p:spPr>
          <a:xfrm>
            <a:off x="502920" y="2606040"/>
            <a:ext cx="5455767" cy="2926080"/>
          </a:xfrm>
          <a:prstGeom prst="roundRect">
            <a:avLst>
              <a:gd name="adj" fmla="val 8000"/>
            </a:avLst>
          </a:prstGeom>
          <a:solidFill>
            <a:srgbClr val="FFFFFF"/>
          </a:solidFill>
          <a:ln w="952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 y="2743200"/>
            <a:ext cx="4998567" cy="365760"/>
          </a:xfrm>
          <a:prstGeom prst="rect">
            <a:avLst/>
          </a:prstGeom>
          <a:noFill/>
        </p:spPr>
        <p:txBody>
          <a:bodyPr wrap="square" lIns="45720" rIns="45720" tIns="18288" bIns="18288" anchor="t">
            <a:spAutoFit/>
          </a:bodyPr>
          <a:lstStyle/>
          <a:p>
            <a:pPr algn="l">
              <a:lnSpc>
                <a:spcPct val="115000"/>
              </a:lnSpc>
            </a:pPr>
            <a:r>
              <a:rPr sz="1500" b="1" i="0">
                <a:solidFill>
                  <a:srgbClr val="142A55"/>
                </a:solidFill>
                <a:latin typeface="Calibri"/>
              </a:rPr>
              <a:t>Findings by layer</a:t>
            </a:r>
          </a:p>
        </p:txBody>
      </p:sp>
      <p:sp>
        <p:nvSpPr>
          <p:cNvPr id="13" name="TextBox 12"/>
          <p:cNvSpPr txBox="1"/>
          <p:nvPr/>
        </p:nvSpPr>
        <p:spPr>
          <a:xfrm>
            <a:off x="731520" y="3154680"/>
            <a:ext cx="4998567" cy="2286000"/>
          </a:xfrm>
          <a:prstGeom prst="rect">
            <a:avLst/>
          </a:prstGeom>
          <a:noFill/>
        </p:spPr>
        <p:txBody>
          <a:bodyPr wrap="square" lIns="45720" rIns="45720" tIns="18288" bIns="18288" anchor="t">
            <a:spAutoFit/>
          </a:bodyPr>
          <a:lstStyle/>
          <a:p>
            <a:pPr algn="l">
              <a:lnSpc>
                <a:spcPct val="118000"/>
              </a:lnSpc>
              <a:spcAft>
                <a:spcPts val="1000"/>
              </a:spcAft>
            </a:pPr>
            <a:r>
              <a:rPr sz="1400" b="1" i="0">
                <a:solidFill>
                  <a:srgbClr val="B31B1B"/>
                </a:solidFill>
                <a:latin typeface="Calibri"/>
              </a:rPr>
              <a:t>Strong  </a:t>
            </a:r>
            <a:r>
              <a:rPr sz="1400" b="0" i="0">
                <a:solidFill>
                  <a:srgbClr val="4B5563"/>
                </a:solidFill>
                <a:latin typeface="Calibri"/>
              </a:rPr>
              <a:t>—  </a:t>
            </a:r>
            <a:r>
              <a:rPr sz="1400" b="0" i="0">
                <a:solidFill>
                  <a:srgbClr val="1F2937"/>
                </a:solidFill>
                <a:latin typeface="Calibri"/>
              </a:rPr>
              <a:t>WPI Fuel and Power and PPAC retail petrol</a:t>
            </a:r>
          </a:p>
          <a:p>
            <a:pPr algn="l">
              <a:lnSpc>
                <a:spcPct val="118000"/>
              </a:lnSpc>
              <a:spcAft>
                <a:spcPts val="1000"/>
              </a:spcAft>
            </a:pPr>
            <a:r>
              <a:rPr sz="1400" b="1" i="0">
                <a:solidFill>
                  <a:srgbClr val="C2760C"/>
                </a:solidFill>
                <a:latin typeface="Calibri"/>
              </a:rPr>
              <a:t>Bridge  </a:t>
            </a:r>
            <a:r>
              <a:rPr sz="1400" b="0" i="0">
                <a:solidFill>
                  <a:srgbClr val="4B5563"/>
                </a:solidFill>
                <a:latin typeface="Calibri"/>
              </a:rPr>
              <a:t>—  </a:t>
            </a:r>
            <a:r>
              <a:rPr sz="1400" b="0" i="0">
                <a:solidFill>
                  <a:srgbClr val="1F2937"/>
                </a:solidFill>
                <a:latin typeface="Calibri"/>
              </a:rPr>
              <a:t>CPI Fuel and Light: smaller but significant</a:t>
            </a:r>
          </a:p>
          <a:p>
            <a:pPr algn="l">
              <a:lnSpc>
                <a:spcPct val="118000"/>
              </a:lnSpc>
              <a:spcAft>
                <a:spcPts val="1000"/>
              </a:spcAft>
            </a:pPr>
            <a:r>
              <a:rPr sz="1400" b="1" i="0">
                <a:solidFill>
                  <a:srgbClr val="475569"/>
                </a:solidFill>
                <a:latin typeface="Calibri"/>
              </a:rPr>
              <a:t>Modest  </a:t>
            </a:r>
            <a:r>
              <a:rPr sz="1400" b="0" i="0">
                <a:solidFill>
                  <a:srgbClr val="4B5563"/>
                </a:solidFill>
                <a:latin typeface="Calibri"/>
              </a:rPr>
              <a:t>—  </a:t>
            </a:r>
            <a:r>
              <a:rPr sz="1400" b="0" i="0">
                <a:solidFill>
                  <a:srgbClr val="1F2937"/>
                </a:solidFill>
                <a:latin typeface="Calibri"/>
              </a:rPr>
              <a:t>Headline WPI: small, statistically significant</a:t>
            </a:r>
          </a:p>
          <a:p>
            <a:pPr algn="l">
              <a:lnSpc>
                <a:spcPct val="118000"/>
              </a:lnSpc>
              <a:spcAft>
                <a:spcPts val="1000"/>
              </a:spcAft>
            </a:pPr>
            <a:r>
              <a:rPr sz="1400" b="1" i="0">
                <a:solidFill>
                  <a:srgbClr val="475569"/>
                </a:solidFill>
                <a:latin typeface="Calibri"/>
              </a:rPr>
              <a:t>Weak  </a:t>
            </a:r>
            <a:r>
              <a:rPr sz="1400" b="0" i="0">
                <a:solidFill>
                  <a:srgbClr val="4B5563"/>
                </a:solidFill>
                <a:latin typeface="Calibri"/>
              </a:rPr>
              <a:t>—  </a:t>
            </a:r>
            <a:r>
              <a:rPr sz="1400" b="0" i="0">
                <a:solidFill>
                  <a:srgbClr val="1F2937"/>
                </a:solidFill>
                <a:latin typeface="Calibri"/>
              </a:rPr>
              <a:t>Headline CPI: not statistically significant</a:t>
            </a:r>
          </a:p>
        </p:txBody>
      </p:sp>
      <p:sp>
        <p:nvSpPr>
          <p:cNvPr id="14" name="Rounded Rectangle 13"/>
          <p:cNvSpPr/>
          <p:nvPr/>
        </p:nvSpPr>
        <p:spPr>
          <a:xfrm>
            <a:off x="6233007" y="2606040"/>
            <a:ext cx="5455767" cy="2926080"/>
          </a:xfrm>
          <a:prstGeom prst="roundRect">
            <a:avLst>
              <a:gd name="adj" fmla="val 8000"/>
            </a:avLst>
          </a:prstGeom>
          <a:solidFill>
            <a:srgbClr val="ECF1F8"/>
          </a:solidFill>
          <a:ln w="12700">
            <a:solidFill>
              <a:srgbClr val="142A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1607" y="2743200"/>
            <a:ext cx="4998567" cy="365760"/>
          </a:xfrm>
          <a:prstGeom prst="rect">
            <a:avLst/>
          </a:prstGeom>
          <a:noFill/>
        </p:spPr>
        <p:txBody>
          <a:bodyPr wrap="square" lIns="45720" rIns="45720" tIns="18288" bIns="18288" anchor="t">
            <a:spAutoFit/>
          </a:bodyPr>
          <a:lstStyle/>
          <a:p>
            <a:pPr algn="l">
              <a:lnSpc>
                <a:spcPct val="115000"/>
              </a:lnSpc>
            </a:pPr>
            <a:r>
              <a:rPr sz="1500" b="1" i="0">
                <a:solidFill>
                  <a:srgbClr val="142A55"/>
                </a:solidFill>
                <a:latin typeface="Calibri"/>
              </a:rPr>
              <a:t>Takeaways</a:t>
            </a:r>
          </a:p>
        </p:txBody>
      </p:sp>
      <p:sp>
        <p:nvSpPr>
          <p:cNvPr id="16" name="TextBox 15"/>
          <p:cNvSpPr txBox="1"/>
          <p:nvPr/>
        </p:nvSpPr>
        <p:spPr>
          <a:xfrm>
            <a:off x="6461607" y="3154680"/>
            <a:ext cx="4998567" cy="2286000"/>
          </a:xfrm>
          <a:prstGeom prst="rect">
            <a:avLst/>
          </a:prstGeom>
          <a:noFill/>
        </p:spPr>
        <p:txBody>
          <a:bodyPr wrap="square" lIns="45720" rIns="45720" tIns="18288" bIns="18288" anchor="t">
            <a:spAutoFit/>
          </a:bodyPr>
          <a:lstStyle/>
          <a:p>
            <a:pPr algn="l">
              <a:lnSpc>
                <a:spcPct val="118000"/>
              </a:lnSpc>
              <a:spcAft>
                <a:spcPts val="1000"/>
              </a:spcAft>
            </a:pPr>
            <a:r>
              <a:rPr sz="1400" b="1" i="0">
                <a:solidFill>
                  <a:srgbClr val="B31B1B"/>
                </a:solidFill>
                <a:latin typeface="Calibri"/>
              </a:rPr>
              <a:t>▪  </a:t>
            </a:r>
            <a:r>
              <a:rPr sz="1400" b="0" i="0">
                <a:solidFill>
                  <a:srgbClr val="1F2937"/>
                </a:solidFill>
                <a:latin typeface="Calibri"/>
              </a:rPr>
              <a:t>Attenuation pattern is visible at every step of the consumer chain.</a:t>
            </a:r>
          </a:p>
          <a:p>
            <a:pPr algn="l">
              <a:lnSpc>
                <a:spcPct val="118000"/>
              </a:lnSpc>
              <a:spcAft>
                <a:spcPts val="1000"/>
              </a:spcAft>
            </a:pPr>
            <a:r>
              <a:rPr sz="1400" b="1" i="0">
                <a:solidFill>
                  <a:srgbClr val="B31B1B"/>
                </a:solidFill>
                <a:latin typeface="Calibri"/>
              </a:rPr>
              <a:t>▪  </a:t>
            </a:r>
            <a:r>
              <a:rPr sz="1400" b="0" i="0">
                <a:solidFill>
                  <a:srgbClr val="1F2937"/>
                </a:solidFill>
                <a:latin typeface="Calibri"/>
              </a:rPr>
              <a:t>Stage 1 vs Stage 3 ratio: about 63× smaller; equality test rejected.</a:t>
            </a:r>
          </a:p>
          <a:p>
            <a:pPr algn="l">
              <a:lnSpc>
                <a:spcPct val="118000"/>
              </a:lnSpc>
              <a:spcAft>
                <a:spcPts val="1000"/>
              </a:spcAft>
            </a:pPr>
            <a:r>
              <a:rPr sz="1400" b="1" i="0">
                <a:solidFill>
                  <a:srgbClr val="B31B1B"/>
                </a:solidFill>
                <a:latin typeface="Calibri"/>
              </a:rPr>
              <a:t>▪  </a:t>
            </a:r>
            <a:r>
              <a:rPr sz="1400" b="0" i="0">
                <a:solidFill>
                  <a:srgbClr val="1F2937"/>
                </a:solidFill>
                <a:latin typeface="Calibri"/>
              </a:rPr>
              <a:t>Asymmetry is not the central result; only retail petrol is marginal.</a:t>
            </a:r>
          </a:p>
          <a:p>
            <a:pPr algn="l">
              <a:lnSpc>
                <a:spcPct val="118000"/>
              </a:lnSpc>
              <a:spcAft>
                <a:spcPts val="1000"/>
              </a:spcAft>
            </a:pPr>
            <a:r>
              <a:rPr sz="1400" b="1" i="0">
                <a:solidFill>
                  <a:srgbClr val="B31B1B"/>
                </a:solidFill>
                <a:latin typeface="Calibri"/>
              </a:rPr>
              <a:t>▪  </a:t>
            </a:r>
            <a:r>
              <a:rPr sz="1400" b="0" i="0">
                <a:solidFill>
                  <a:srgbClr val="1F2937"/>
                </a:solidFill>
                <a:latin typeface="Calibri"/>
              </a:rPr>
              <a:t>Fuel-only and headline-CPI views give different policy reads.</a:t>
            </a:r>
          </a:p>
        </p:txBody>
      </p:sp>
      <p:sp>
        <p:nvSpPr>
          <p:cNvPr id="17" name="Rounded Rectangle 16"/>
          <p:cNvSpPr/>
          <p:nvPr/>
        </p:nvSpPr>
        <p:spPr>
          <a:xfrm>
            <a:off x="502920" y="5669280"/>
            <a:ext cx="11185855" cy="640080"/>
          </a:xfrm>
          <a:prstGeom prst="roundRect">
            <a:avLst>
              <a:gd name="adj" fmla="val 8000"/>
            </a:avLst>
          </a:prstGeom>
          <a:solidFill>
            <a:srgbClr val="FEF3C7"/>
          </a:solidFill>
          <a:ln w="9525">
            <a:solidFill>
              <a:srgbClr val="C276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5669280"/>
            <a:ext cx="10637215" cy="640080"/>
          </a:xfrm>
          <a:prstGeom prst="rect">
            <a:avLst/>
          </a:prstGeom>
          <a:noFill/>
        </p:spPr>
        <p:txBody>
          <a:bodyPr wrap="square" lIns="45720" rIns="45720" tIns="18288" bIns="18288" anchor="ctr">
            <a:spAutoFit/>
          </a:bodyPr>
          <a:lstStyle/>
          <a:p>
            <a:pPr algn="l">
              <a:lnSpc>
                <a:spcPct val="115000"/>
              </a:lnSpc>
            </a:pPr>
            <a:r>
              <a:rPr sz="1500" b="1" i="0">
                <a:solidFill>
                  <a:srgbClr val="C2760C"/>
                </a:solidFill>
                <a:latin typeface="Calibri"/>
              </a:rPr>
              <a:t>Attenuation, not absence, of oil-price transmission.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Rectangle 2"/>
          <p:cNvSpPr/>
          <p:nvPr/>
        </p:nvSpPr>
        <p:spPr>
          <a:xfrm>
            <a:off x="0" y="0"/>
            <a:ext cx="12191695" cy="91440"/>
          </a:xfrm>
          <a:prstGeom prst="rect">
            <a:avLst/>
          </a:prstGeom>
          <a:solidFill>
            <a:srgbClr val="142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ectangle 3"/>
          <p:cNvSpPr/>
          <p:nvPr/>
        </p:nvSpPr>
        <p:spPr>
          <a:xfrm>
            <a:off x="0" y="6766560"/>
            <a:ext cx="12191695" cy="91440"/>
          </a:xfrm>
          <a:prstGeom prst="rect">
            <a:avLst/>
          </a:prstGeom>
          <a:solidFill>
            <a:srgbClr val="142A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502920" y="2377440"/>
            <a:ext cx="11185855" cy="1097280"/>
          </a:xfrm>
          <a:prstGeom prst="rect">
            <a:avLst/>
          </a:prstGeom>
          <a:noFill/>
        </p:spPr>
        <p:txBody>
          <a:bodyPr wrap="square" lIns="45720" rIns="45720" tIns="18288" bIns="18288" anchor="ctr">
            <a:spAutoFit/>
          </a:bodyPr>
          <a:lstStyle/>
          <a:p>
            <a:pPr algn="ctr">
              <a:lnSpc>
                <a:spcPct val="115000"/>
              </a:lnSpc>
            </a:pPr>
            <a:r>
              <a:rPr sz="6600" b="1" i="0">
                <a:solidFill>
                  <a:srgbClr val="142A55"/>
                </a:solidFill>
                <a:latin typeface="Calibri"/>
              </a:rPr>
              <a:t>Thank you</a:t>
            </a:r>
          </a:p>
        </p:txBody>
      </p:sp>
      <p:sp>
        <p:nvSpPr>
          <p:cNvPr id="6" name="TextBox 5"/>
          <p:cNvSpPr txBox="1"/>
          <p:nvPr/>
        </p:nvSpPr>
        <p:spPr>
          <a:xfrm>
            <a:off x="502920" y="3566160"/>
            <a:ext cx="11185855" cy="640080"/>
          </a:xfrm>
          <a:prstGeom prst="rect">
            <a:avLst/>
          </a:prstGeom>
          <a:noFill/>
        </p:spPr>
        <p:txBody>
          <a:bodyPr wrap="square" lIns="45720" rIns="45720" tIns="18288" bIns="18288" anchor="ctr">
            <a:spAutoFit/>
          </a:bodyPr>
          <a:lstStyle/>
          <a:p>
            <a:pPr algn="ctr">
              <a:lnSpc>
                <a:spcPct val="115000"/>
              </a:lnSpc>
            </a:pPr>
            <a:r>
              <a:rPr sz="2200" b="0" i="1">
                <a:solidFill>
                  <a:srgbClr val="4B5563"/>
                </a:solidFill>
                <a:latin typeface="Calibri"/>
              </a:rPr>
              <a:t>Questions are welcome.</a:t>
            </a:r>
          </a:p>
        </p:txBody>
      </p:sp>
      <p:sp>
        <p:nvSpPr>
          <p:cNvPr id="7" name="Rectangle 6"/>
          <p:cNvSpPr/>
          <p:nvPr/>
        </p:nvSpPr>
        <p:spPr>
          <a:xfrm>
            <a:off x="5181447" y="4434840"/>
            <a:ext cx="1828800" cy="36576"/>
          </a:xfrm>
          <a:prstGeom prst="rect">
            <a:avLst/>
          </a:prstGeom>
          <a:solidFill>
            <a:srgbClr val="B31B1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502920" y="4663440"/>
            <a:ext cx="11185855" cy="548640"/>
          </a:xfrm>
          <a:prstGeom prst="rect">
            <a:avLst/>
          </a:prstGeom>
          <a:noFill/>
        </p:spPr>
        <p:txBody>
          <a:bodyPr wrap="square" lIns="45720" rIns="45720" tIns="18288" bIns="18288" anchor="ctr">
            <a:spAutoFit/>
          </a:bodyPr>
          <a:lstStyle/>
          <a:p>
            <a:pPr algn="ctr">
              <a:lnSpc>
                <a:spcPct val="115000"/>
              </a:lnSpc>
            </a:pPr>
            <a:r>
              <a:rPr sz="1400" b="0" i="0">
                <a:solidFill>
                  <a:srgbClr val="4B5563"/>
                </a:solidFill>
                <a:latin typeface="Calibri"/>
              </a:rPr>
              <a:t>Aniket Pandey  ·  B.Tech + MS Economics  ·  School Of Engineering, JNU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